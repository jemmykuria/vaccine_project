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65" r:id="rId3"/>
    <p:sldId id="258" r:id="rId4"/>
    <p:sldId id="259" r:id="rId5"/>
    <p:sldId id="260" r:id="rId6"/>
    <p:sldId id="261" r:id="rId7"/>
    <p:sldId id="262" r:id="rId8"/>
    <p:sldId id="267" r:id="rId9"/>
    <p:sldId id="268" r:id="rId10"/>
    <p:sldId id="271" r:id="rId11"/>
    <p:sldId id="270" r:id="rId12"/>
    <p:sldId id="269"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100"/>
    <a:srgbClr val="A6A5A4"/>
    <a:srgbClr val="EC7E31"/>
    <a:srgbClr val="C38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3" autoAdjust="0"/>
    <p:restoredTop sz="94660"/>
  </p:normalViewPr>
  <p:slideViewPr>
    <p:cSldViewPr snapToGrid="0">
      <p:cViewPr varScale="1">
        <p:scale>
          <a:sx n="114" d="100"/>
          <a:sy n="114" d="100"/>
        </p:scale>
        <p:origin x="512"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ata4.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_rels/drawing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svg"/><Relationship Id="rId1" Type="http://schemas.openxmlformats.org/officeDocument/2006/relationships/image" Target="../media/image2.png"/><Relationship Id="rId6" Type="http://schemas.openxmlformats.org/officeDocument/2006/relationships/image" Target="../media/image7.svg"/><Relationship Id="rId5" Type="http://schemas.openxmlformats.org/officeDocument/2006/relationships/image" Target="../media/image6.png"/><Relationship Id="rId4" Type="http://schemas.openxmlformats.org/officeDocument/2006/relationships/image" Target="../media/image5.svg"/></Relationships>
</file>

<file path=ppt/diagrams/_rels/drawing4.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image" Target="../media/image9.svg"/><Relationship Id="rId1" Type="http://schemas.openxmlformats.org/officeDocument/2006/relationships/image" Target="../media/image8.png"/><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5285A3E-F382-42C7-874F-AE19DEC3C5DD}"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8263D1D1-5F47-4A21-8149-CB65B7BE824B}">
      <dgm:prSet/>
      <dgm:spPr/>
      <dgm:t>
        <a:bodyPr/>
        <a:lstStyle/>
        <a:p>
          <a:r>
            <a:rPr lang="en-GB" b="1"/>
            <a:t>Project Overview:</a:t>
          </a:r>
          <a:r>
            <a:rPr lang="en-GB"/>
            <a:t> This project predicts the likelihood of individuals receiving seasonal flu and/or H1N1 vaccines using demographic, behavioural, and opinion-based survey data.</a:t>
          </a:r>
          <a:endParaRPr lang="en-US"/>
        </a:p>
      </dgm:t>
    </dgm:pt>
    <dgm:pt modelId="{A22A2652-813E-404E-8FCA-CEAA3BD25C7C}" type="parTrans" cxnId="{CB057039-BF6E-47BE-A7DC-6BA5EE6F39BB}">
      <dgm:prSet/>
      <dgm:spPr/>
      <dgm:t>
        <a:bodyPr/>
        <a:lstStyle/>
        <a:p>
          <a:endParaRPr lang="en-US"/>
        </a:p>
      </dgm:t>
    </dgm:pt>
    <dgm:pt modelId="{AFCAC8B7-2AE5-4EA6-9D6B-75C6A9F793AB}" type="sibTrans" cxnId="{CB057039-BF6E-47BE-A7DC-6BA5EE6F39BB}">
      <dgm:prSet/>
      <dgm:spPr/>
      <dgm:t>
        <a:bodyPr/>
        <a:lstStyle/>
        <a:p>
          <a:endParaRPr lang="en-US"/>
        </a:p>
      </dgm:t>
    </dgm:pt>
    <dgm:pt modelId="{66D26D08-515E-49D8-B6CA-2CCFF32780A9}">
      <dgm:prSet/>
      <dgm:spPr/>
      <dgm:t>
        <a:bodyPr/>
        <a:lstStyle/>
        <a:p>
          <a:r>
            <a:rPr lang="en-GB" b="1"/>
            <a:t>Aim:</a:t>
          </a:r>
          <a:r>
            <a:rPr lang="en-GB"/>
            <a:t> Produce accurate predictions to guide targeted public health interventions and uncover key drivers of vaccine uptake.</a:t>
          </a:r>
          <a:endParaRPr lang="en-US"/>
        </a:p>
      </dgm:t>
    </dgm:pt>
    <dgm:pt modelId="{8967049E-2F63-4A00-A392-C3DC145AF71A}" type="parTrans" cxnId="{5A640AD5-E0D7-4265-BA7C-E93D5671926A}">
      <dgm:prSet/>
      <dgm:spPr/>
      <dgm:t>
        <a:bodyPr/>
        <a:lstStyle/>
        <a:p>
          <a:endParaRPr lang="en-US"/>
        </a:p>
      </dgm:t>
    </dgm:pt>
    <dgm:pt modelId="{18F5AB07-F5D8-4BE2-B1C9-A35D65807CE7}" type="sibTrans" cxnId="{5A640AD5-E0D7-4265-BA7C-E93D5671926A}">
      <dgm:prSet/>
      <dgm:spPr/>
      <dgm:t>
        <a:bodyPr/>
        <a:lstStyle/>
        <a:p>
          <a:endParaRPr lang="en-US"/>
        </a:p>
      </dgm:t>
    </dgm:pt>
    <dgm:pt modelId="{4F127B38-D8D8-464E-BFA2-A35B5892C4B6}">
      <dgm:prSet/>
      <dgm:spPr/>
      <dgm:t>
        <a:bodyPr/>
        <a:lstStyle/>
        <a:p>
          <a:r>
            <a:rPr lang="en-GB" b="1"/>
            <a:t>Stakeholders:</a:t>
          </a:r>
          <a:r>
            <a:rPr lang="en-GB"/>
            <a:t> Public Health Agencies, Healthcare Systems, and Government.</a:t>
          </a:r>
          <a:endParaRPr lang="en-US"/>
        </a:p>
      </dgm:t>
    </dgm:pt>
    <dgm:pt modelId="{FE931D55-2A03-40A7-AC9E-2C41BDA35AA5}" type="parTrans" cxnId="{7C1B66D2-8D14-4E83-BFD6-7BD7AD43D130}">
      <dgm:prSet/>
      <dgm:spPr/>
      <dgm:t>
        <a:bodyPr/>
        <a:lstStyle/>
        <a:p>
          <a:endParaRPr lang="en-US"/>
        </a:p>
      </dgm:t>
    </dgm:pt>
    <dgm:pt modelId="{4EE06FBA-31B0-4184-8DFD-ACD19B26CB04}" type="sibTrans" cxnId="{7C1B66D2-8D14-4E83-BFD6-7BD7AD43D130}">
      <dgm:prSet/>
      <dgm:spPr/>
      <dgm:t>
        <a:bodyPr/>
        <a:lstStyle/>
        <a:p>
          <a:endParaRPr lang="en-US"/>
        </a:p>
      </dgm:t>
    </dgm:pt>
    <dgm:pt modelId="{A4815B78-046F-40EA-9C9F-B66C1CB99119}" type="pres">
      <dgm:prSet presAssocID="{35285A3E-F382-42C7-874F-AE19DEC3C5DD}" presName="root" presStyleCnt="0">
        <dgm:presLayoutVars>
          <dgm:dir/>
          <dgm:resizeHandles val="exact"/>
        </dgm:presLayoutVars>
      </dgm:prSet>
      <dgm:spPr/>
    </dgm:pt>
    <dgm:pt modelId="{49F4F8F5-74AE-4016-B77F-99CAE41BB4DE}" type="pres">
      <dgm:prSet presAssocID="{8263D1D1-5F47-4A21-8149-CB65B7BE824B}" presName="compNode" presStyleCnt="0"/>
      <dgm:spPr/>
    </dgm:pt>
    <dgm:pt modelId="{410FC4AF-F3C1-4A03-AEB4-E02B40316539}" type="pres">
      <dgm:prSet presAssocID="{8263D1D1-5F47-4A21-8149-CB65B7BE824B}" presName="bgRect" presStyleLbl="bgShp" presStyleIdx="0" presStyleCnt="3"/>
      <dgm:spPr/>
    </dgm:pt>
    <dgm:pt modelId="{B2735591-8923-49CB-B98F-DF72D5D70D6B}" type="pres">
      <dgm:prSet presAssocID="{8263D1D1-5F47-4A21-8149-CB65B7BE824B}" presName="iconRect" presStyleLbl="node1" presStyleIdx="0" presStyleCnt="3"/>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Needle"/>
        </a:ext>
      </dgm:extLst>
    </dgm:pt>
    <dgm:pt modelId="{7BABE1A6-EF66-46EC-8DF8-366E14F97E27}" type="pres">
      <dgm:prSet presAssocID="{8263D1D1-5F47-4A21-8149-CB65B7BE824B}" presName="spaceRect" presStyleCnt="0"/>
      <dgm:spPr/>
    </dgm:pt>
    <dgm:pt modelId="{D81E3891-0D3E-4DC9-AB95-3AFDE5F905B2}" type="pres">
      <dgm:prSet presAssocID="{8263D1D1-5F47-4A21-8149-CB65B7BE824B}" presName="parTx" presStyleLbl="revTx" presStyleIdx="0" presStyleCnt="3">
        <dgm:presLayoutVars>
          <dgm:chMax val="0"/>
          <dgm:chPref val="0"/>
        </dgm:presLayoutVars>
      </dgm:prSet>
      <dgm:spPr/>
    </dgm:pt>
    <dgm:pt modelId="{ADD60F6F-F3DE-4D30-9AD4-34B118D1F791}" type="pres">
      <dgm:prSet presAssocID="{AFCAC8B7-2AE5-4EA6-9D6B-75C6A9F793AB}" presName="sibTrans" presStyleCnt="0"/>
      <dgm:spPr/>
    </dgm:pt>
    <dgm:pt modelId="{FC4E67F1-305C-4B67-B227-815717D076E1}" type="pres">
      <dgm:prSet presAssocID="{66D26D08-515E-49D8-B6CA-2CCFF32780A9}" presName="compNode" presStyleCnt="0"/>
      <dgm:spPr/>
    </dgm:pt>
    <dgm:pt modelId="{671BDBE3-564A-46C8-B794-44C2AE4F320D}" type="pres">
      <dgm:prSet presAssocID="{66D26D08-515E-49D8-B6CA-2CCFF32780A9}" presName="bgRect" presStyleLbl="bgShp" presStyleIdx="1" presStyleCnt="3"/>
      <dgm:spPr/>
    </dgm:pt>
    <dgm:pt modelId="{98B94B9B-3738-44C8-BA54-9DB1BB6AC8ED}" type="pres">
      <dgm:prSet presAssocID="{66D26D08-515E-49D8-B6CA-2CCFF32780A9}" presName="iconRect" presStyleLbl="node1" presStyleIdx="1" presStyleCnt="3"/>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Bullseye"/>
        </a:ext>
      </dgm:extLst>
    </dgm:pt>
    <dgm:pt modelId="{7D81743E-B430-4897-A388-3D84F2626D62}" type="pres">
      <dgm:prSet presAssocID="{66D26D08-515E-49D8-B6CA-2CCFF32780A9}" presName="spaceRect" presStyleCnt="0"/>
      <dgm:spPr/>
    </dgm:pt>
    <dgm:pt modelId="{619F1A3F-C0DC-4392-B915-C9BD9DD2B5D0}" type="pres">
      <dgm:prSet presAssocID="{66D26D08-515E-49D8-B6CA-2CCFF32780A9}" presName="parTx" presStyleLbl="revTx" presStyleIdx="1" presStyleCnt="3">
        <dgm:presLayoutVars>
          <dgm:chMax val="0"/>
          <dgm:chPref val="0"/>
        </dgm:presLayoutVars>
      </dgm:prSet>
      <dgm:spPr/>
    </dgm:pt>
    <dgm:pt modelId="{CEC6CC2D-8FE8-4E42-8565-CC33876A9DA7}" type="pres">
      <dgm:prSet presAssocID="{18F5AB07-F5D8-4BE2-B1C9-A35D65807CE7}" presName="sibTrans" presStyleCnt="0"/>
      <dgm:spPr/>
    </dgm:pt>
    <dgm:pt modelId="{406C2B42-C670-4318-A4ED-72DE31270B65}" type="pres">
      <dgm:prSet presAssocID="{4F127B38-D8D8-464E-BFA2-A35B5892C4B6}" presName="compNode" presStyleCnt="0"/>
      <dgm:spPr/>
    </dgm:pt>
    <dgm:pt modelId="{469197E8-3D61-4679-853D-1E18D39B9FB5}" type="pres">
      <dgm:prSet presAssocID="{4F127B38-D8D8-464E-BFA2-A35B5892C4B6}" presName="bgRect" presStyleLbl="bgShp" presStyleIdx="2" presStyleCnt="3"/>
      <dgm:spPr/>
    </dgm:pt>
    <dgm:pt modelId="{29B9DD38-B151-4AFE-A56E-3D0C6860E1F7}" type="pres">
      <dgm:prSet presAssocID="{4F127B38-D8D8-464E-BFA2-A35B5892C4B6}" presName="iconRect" presStyleLbl="node1" presStyleIdx="2" presStyleCnt="3"/>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ank"/>
        </a:ext>
      </dgm:extLst>
    </dgm:pt>
    <dgm:pt modelId="{0535E432-04C0-4760-8ADF-842AF0AE7761}" type="pres">
      <dgm:prSet presAssocID="{4F127B38-D8D8-464E-BFA2-A35B5892C4B6}" presName="spaceRect" presStyleCnt="0"/>
      <dgm:spPr/>
    </dgm:pt>
    <dgm:pt modelId="{446B98CB-FDF9-4069-B257-5AF62C32C3E2}" type="pres">
      <dgm:prSet presAssocID="{4F127B38-D8D8-464E-BFA2-A35B5892C4B6}" presName="parTx" presStyleLbl="revTx" presStyleIdx="2" presStyleCnt="3">
        <dgm:presLayoutVars>
          <dgm:chMax val="0"/>
          <dgm:chPref val="0"/>
        </dgm:presLayoutVars>
      </dgm:prSet>
      <dgm:spPr/>
    </dgm:pt>
  </dgm:ptLst>
  <dgm:cxnLst>
    <dgm:cxn modelId="{15FEF530-E0B0-4079-A1B2-6D0FB842AE0D}" type="presOf" srcId="{66D26D08-515E-49D8-B6CA-2CCFF32780A9}" destId="{619F1A3F-C0DC-4392-B915-C9BD9DD2B5D0}" srcOrd="0" destOrd="0" presId="urn:microsoft.com/office/officeart/2018/2/layout/IconVerticalSolidList"/>
    <dgm:cxn modelId="{CB057039-BF6E-47BE-A7DC-6BA5EE6F39BB}" srcId="{35285A3E-F382-42C7-874F-AE19DEC3C5DD}" destId="{8263D1D1-5F47-4A21-8149-CB65B7BE824B}" srcOrd="0" destOrd="0" parTransId="{A22A2652-813E-404E-8FCA-CEAA3BD25C7C}" sibTransId="{AFCAC8B7-2AE5-4EA6-9D6B-75C6A9F793AB}"/>
    <dgm:cxn modelId="{44F2233F-B137-4984-B6E7-68A8DF0AD3DF}" type="presOf" srcId="{4F127B38-D8D8-464E-BFA2-A35B5892C4B6}" destId="{446B98CB-FDF9-4069-B257-5AF62C32C3E2}" srcOrd="0" destOrd="0" presId="urn:microsoft.com/office/officeart/2018/2/layout/IconVerticalSolidList"/>
    <dgm:cxn modelId="{CB2ABF56-FD86-49E5-B442-B9B85083D76B}" type="presOf" srcId="{35285A3E-F382-42C7-874F-AE19DEC3C5DD}" destId="{A4815B78-046F-40EA-9C9F-B66C1CB99119}" srcOrd="0" destOrd="0" presId="urn:microsoft.com/office/officeart/2018/2/layout/IconVerticalSolidList"/>
    <dgm:cxn modelId="{767E89C8-29FA-41F9-8930-F4CAFC14A410}" type="presOf" srcId="{8263D1D1-5F47-4A21-8149-CB65B7BE824B}" destId="{D81E3891-0D3E-4DC9-AB95-3AFDE5F905B2}" srcOrd="0" destOrd="0" presId="urn:microsoft.com/office/officeart/2018/2/layout/IconVerticalSolidList"/>
    <dgm:cxn modelId="{7C1B66D2-8D14-4E83-BFD6-7BD7AD43D130}" srcId="{35285A3E-F382-42C7-874F-AE19DEC3C5DD}" destId="{4F127B38-D8D8-464E-BFA2-A35B5892C4B6}" srcOrd="2" destOrd="0" parTransId="{FE931D55-2A03-40A7-AC9E-2C41BDA35AA5}" sibTransId="{4EE06FBA-31B0-4184-8DFD-ACD19B26CB04}"/>
    <dgm:cxn modelId="{5A640AD5-E0D7-4265-BA7C-E93D5671926A}" srcId="{35285A3E-F382-42C7-874F-AE19DEC3C5DD}" destId="{66D26D08-515E-49D8-B6CA-2CCFF32780A9}" srcOrd="1" destOrd="0" parTransId="{8967049E-2F63-4A00-A392-C3DC145AF71A}" sibTransId="{18F5AB07-F5D8-4BE2-B1C9-A35D65807CE7}"/>
    <dgm:cxn modelId="{8487B849-B90D-447B-A60F-4D73B43B1CDC}" type="presParOf" srcId="{A4815B78-046F-40EA-9C9F-B66C1CB99119}" destId="{49F4F8F5-74AE-4016-B77F-99CAE41BB4DE}" srcOrd="0" destOrd="0" presId="urn:microsoft.com/office/officeart/2018/2/layout/IconVerticalSolidList"/>
    <dgm:cxn modelId="{9D307314-561B-4659-BEE2-242A6A9B5418}" type="presParOf" srcId="{49F4F8F5-74AE-4016-B77F-99CAE41BB4DE}" destId="{410FC4AF-F3C1-4A03-AEB4-E02B40316539}" srcOrd="0" destOrd="0" presId="urn:microsoft.com/office/officeart/2018/2/layout/IconVerticalSolidList"/>
    <dgm:cxn modelId="{508ACB20-AF73-47B5-86AF-E82BF287DF6D}" type="presParOf" srcId="{49F4F8F5-74AE-4016-B77F-99CAE41BB4DE}" destId="{B2735591-8923-49CB-B98F-DF72D5D70D6B}" srcOrd="1" destOrd="0" presId="urn:microsoft.com/office/officeart/2018/2/layout/IconVerticalSolidList"/>
    <dgm:cxn modelId="{712A01CE-775F-4E67-B41B-C1FD69497F68}" type="presParOf" srcId="{49F4F8F5-74AE-4016-B77F-99CAE41BB4DE}" destId="{7BABE1A6-EF66-46EC-8DF8-366E14F97E27}" srcOrd="2" destOrd="0" presId="urn:microsoft.com/office/officeart/2018/2/layout/IconVerticalSolidList"/>
    <dgm:cxn modelId="{64C8F1DA-0D26-4C7F-AF3C-FD6E5CCA694F}" type="presParOf" srcId="{49F4F8F5-74AE-4016-B77F-99CAE41BB4DE}" destId="{D81E3891-0D3E-4DC9-AB95-3AFDE5F905B2}" srcOrd="3" destOrd="0" presId="urn:microsoft.com/office/officeart/2018/2/layout/IconVerticalSolidList"/>
    <dgm:cxn modelId="{26BF73C5-AB90-4F02-A182-41747D8749A9}" type="presParOf" srcId="{A4815B78-046F-40EA-9C9F-B66C1CB99119}" destId="{ADD60F6F-F3DE-4D30-9AD4-34B118D1F791}" srcOrd="1" destOrd="0" presId="urn:microsoft.com/office/officeart/2018/2/layout/IconVerticalSolidList"/>
    <dgm:cxn modelId="{1C89DF34-AA0A-4A66-8B50-C30C3068268E}" type="presParOf" srcId="{A4815B78-046F-40EA-9C9F-B66C1CB99119}" destId="{FC4E67F1-305C-4B67-B227-815717D076E1}" srcOrd="2" destOrd="0" presId="urn:microsoft.com/office/officeart/2018/2/layout/IconVerticalSolidList"/>
    <dgm:cxn modelId="{2B9491AA-90FE-4533-AC2A-8F873F193CA6}" type="presParOf" srcId="{FC4E67F1-305C-4B67-B227-815717D076E1}" destId="{671BDBE3-564A-46C8-B794-44C2AE4F320D}" srcOrd="0" destOrd="0" presId="urn:microsoft.com/office/officeart/2018/2/layout/IconVerticalSolidList"/>
    <dgm:cxn modelId="{6E1C53D7-710F-4FF9-9D55-A85CD4F5B3D1}" type="presParOf" srcId="{FC4E67F1-305C-4B67-B227-815717D076E1}" destId="{98B94B9B-3738-44C8-BA54-9DB1BB6AC8ED}" srcOrd="1" destOrd="0" presId="urn:microsoft.com/office/officeart/2018/2/layout/IconVerticalSolidList"/>
    <dgm:cxn modelId="{1F9EB7A2-AEEB-4D83-AC44-366F1FC29815}" type="presParOf" srcId="{FC4E67F1-305C-4B67-B227-815717D076E1}" destId="{7D81743E-B430-4897-A388-3D84F2626D62}" srcOrd="2" destOrd="0" presId="urn:microsoft.com/office/officeart/2018/2/layout/IconVerticalSolidList"/>
    <dgm:cxn modelId="{671062D5-05CE-423E-8F87-F12F2791F574}" type="presParOf" srcId="{FC4E67F1-305C-4B67-B227-815717D076E1}" destId="{619F1A3F-C0DC-4392-B915-C9BD9DD2B5D0}" srcOrd="3" destOrd="0" presId="urn:microsoft.com/office/officeart/2018/2/layout/IconVerticalSolidList"/>
    <dgm:cxn modelId="{48BBD208-B9E4-4722-8849-4CE91F77551E}" type="presParOf" srcId="{A4815B78-046F-40EA-9C9F-B66C1CB99119}" destId="{CEC6CC2D-8FE8-4E42-8565-CC33876A9DA7}" srcOrd="3" destOrd="0" presId="urn:microsoft.com/office/officeart/2018/2/layout/IconVerticalSolidList"/>
    <dgm:cxn modelId="{EE1DDB42-E62D-472A-BADC-BD263E17E1F9}" type="presParOf" srcId="{A4815B78-046F-40EA-9C9F-B66C1CB99119}" destId="{406C2B42-C670-4318-A4ED-72DE31270B65}" srcOrd="4" destOrd="0" presId="urn:microsoft.com/office/officeart/2018/2/layout/IconVerticalSolidList"/>
    <dgm:cxn modelId="{0AAEFD36-69D1-4B0E-A662-119053F96282}" type="presParOf" srcId="{406C2B42-C670-4318-A4ED-72DE31270B65}" destId="{469197E8-3D61-4679-853D-1E18D39B9FB5}" srcOrd="0" destOrd="0" presId="urn:microsoft.com/office/officeart/2018/2/layout/IconVerticalSolidList"/>
    <dgm:cxn modelId="{A326EF2D-1E6F-4E38-8364-3850DB374CB1}" type="presParOf" srcId="{406C2B42-C670-4318-A4ED-72DE31270B65}" destId="{29B9DD38-B151-4AFE-A56E-3D0C6860E1F7}" srcOrd="1" destOrd="0" presId="urn:microsoft.com/office/officeart/2018/2/layout/IconVerticalSolidList"/>
    <dgm:cxn modelId="{49A2CB6D-7CC7-46FA-B00E-8CC3D3F7DA3E}" type="presParOf" srcId="{406C2B42-C670-4318-A4ED-72DE31270B65}" destId="{0535E432-04C0-4760-8ADF-842AF0AE7761}" srcOrd="2" destOrd="0" presId="urn:microsoft.com/office/officeart/2018/2/layout/IconVerticalSolidList"/>
    <dgm:cxn modelId="{E3E9DBDB-E67F-482E-8D02-3A9AB4F5A0C9}" type="presParOf" srcId="{406C2B42-C670-4318-A4ED-72DE31270B65}" destId="{446B98CB-FDF9-4069-B257-5AF62C32C3E2}"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E4FE6697-7190-48D8-B62F-D645B4C45D14}" type="doc">
      <dgm:prSet loTypeId="urn:microsoft.com/office/officeart/2005/8/layout/vList2" loCatId="list" qsTypeId="urn:microsoft.com/office/officeart/2005/8/quickstyle/simple1" qsCatId="simple" csTypeId="urn:microsoft.com/office/officeart/2005/8/colors/colorful2" csCatId="colorful"/>
      <dgm:spPr/>
      <dgm:t>
        <a:bodyPr/>
        <a:lstStyle/>
        <a:p>
          <a:endParaRPr lang="en-US"/>
        </a:p>
      </dgm:t>
    </dgm:pt>
    <dgm:pt modelId="{0A2E36E9-51E5-4D47-95A4-C37F7B980B0F}">
      <dgm:prSet/>
      <dgm:spPr/>
      <dgm:t>
        <a:bodyPr/>
        <a:lstStyle/>
        <a:p>
          <a:r>
            <a:rPr lang="en-GB" b="1"/>
            <a:t>Public Health Challenge:</a:t>
          </a:r>
          <a:r>
            <a:rPr lang="en-GB"/>
            <a:t> Unvaccinated individuals pose a significant risk of large-scale flu outbreaks, straining healthcare systems and causing substantial socio-economic impact.</a:t>
          </a:r>
          <a:endParaRPr lang="en-US"/>
        </a:p>
      </dgm:t>
    </dgm:pt>
    <dgm:pt modelId="{44F6D4B2-83E0-4FBA-AA85-E3C6A8E13219}" type="parTrans" cxnId="{B0FB4FCE-612B-42A1-B36F-0FB0A12ABF76}">
      <dgm:prSet/>
      <dgm:spPr/>
      <dgm:t>
        <a:bodyPr/>
        <a:lstStyle/>
        <a:p>
          <a:endParaRPr lang="en-US"/>
        </a:p>
      </dgm:t>
    </dgm:pt>
    <dgm:pt modelId="{49F11CD4-E508-4845-A911-95225A2B6085}" type="sibTrans" cxnId="{B0FB4FCE-612B-42A1-B36F-0FB0A12ABF76}">
      <dgm:prSet/>
      <dgm:spPr/>
      <dgm:t>
        <a:bodyPr/>
        <a:lstStyle/>
        <a:p>
          <a:endParaRPr lang="en-US"/>
        </a:p>
      </dgm:t>
    </dgm:pt>
    <dgm:pt modelId="{7014CC3E-23AD-4D68-8F1B-434A30293831}">
      <dgm:prSet/>
      <dgm:spPr/>
      <dgm:t>
        <a:bodyPr/>
        <a:lstStyle/>
        <a:p>
          <a:r>
            <a:rPr lang="en-GB" b="1"/>
            <a:t>Need for Prediction:</a:t>
          </a:r>
          <a:r>
            <a:rPr lang="en-GB"/>
            <a:t> Accurate prediction of vaccine uptake allows public health agencies to identify at-risk populations and allocate resources more effectively and proactively. </a:t>
          </a:r>
          <a:endParaRPr lang="en-US"/>
        </a:p>
      </dgm:t>
    </dgm:pt>
    <dgm:pt modelId="{FDE9DF60-C08D-4C6A-BDCD-CDFA395CDAE3}" type="parTrans" cxnId="{C4295BE6-45D7-4655-82EE-03B68C40629B}">
      <dgm:prSet/>
      <dgm:spPr/>
      <dgm:t>
        <a:bodyPr/>
        <a:lstStyle/>
        <a:p>
          <a:endParaRPr lang="en-US"/>
        </a:p>
      </dgm:t>
    </dgm:pt>
    <dgm:pt modelId="{035559FB-673D-4CF5-BD31-0C6567642F54}" type="sibTrans" cxnId="{C4295BE6-45D7-4655-82EE-03B68C40629B}">
      <dgm:prSet/>
      <dgm:spPr/>
      <dgm:t>
        <a:bodyPr/>
        <a:lstStyle/>
        <a:p>
          <a:endParaRPr lang="en-US"/>
        </a:p>
      </dgm:t>
    </dgm:pt>
    <dgm:pt modelId="{30094957-4948-482E-A930-7004C6D0AB95}">
      <dgm:prSet/>
      <dgm:spPr/>
      <dgm:t>
        <a:bodyPr/>
        <a:lstStyle/>
        <a:p>
          <a:r>
            <a:rPr lang="en-GB" b="1"/>
            <a:t>Stakeholder Value:</a:t>
          </a:r>
          <a:r>
            <a:rPr lang="en-GB"/>
            <a:t> Provides actionable insights for Public Health Agencies, Healthcare Systems, and Government bodies to enhance preventative care and public safety.</a:t>
          </a:r>
          <a:endParaRPr lang="en-US"/>
        </a:p>
      </dgm:t>
    </dgm:pt>
    <dgm:pt modelId="{F90170FA-3282-4F97-A2FB-AEB76BB0F462}" type="parTrans" cxnId="{050C1186-DE2E-4E9B-A240-8133BE3E02D0}">
      <dgm:prSet/>
      <dgm:spPr/>
      <dgm:t>
        <a:bodyPr/>
        <a:lstStyle/>
        <a:p>
          <a:endParaRPr lang="en-US"/>
        </a:p>
      </dgm:t>
    </dgm:pt>
    <dgm:pt modelId="{3820727A-55B8-4372-9047-11EB626C74A5}" type="sibTrans" cxnId="{050C1186-DE2E-4E9B-A240-8133BE3E02D0}">
      <dgm:prSet/>
      <dgm:spPr/>
      <dgm:t>
        <a:bodyPr/>
        <a:lstStyle/>
        <a:p>
          <a:endParaRPr lang="en-US"/>
        </a:p>
      </dgm:t>
    </dgm:pt>
    <dgm:pt modelId="{B36DC682-90FA-F64A-A12A-ABFF229C103E}" type="pres">
      <dgm:prSet presAssocID="{E4FE6697-7190-48D8-B62F-D645B4C45D14}" presName="linear" presStyleCnt="0">
        <dgm:presLayoutVars>
          <dgm:animLvl val="lvl"/>
          <dgm:resizeHandles val="exact"/>
        </dgm:presLayoutVars>
      </dgm:prSet>
      <dgm:spPr/>
    </dgm:pt>
    <dgm:pt modelId="{1343EE2E-23CD-F944-9F61-685AA6DA142F}" type="pres">
      <dgm:prSet presAssocID="{0A2E36E9-51E5-4D47-95A4-C37F7B980B0F}" presName="parentText" presStyleLbl="node1" presStyleIdx="0" presStyleCnt="3">
        <dgm:presLayoutVars>
          <dgm:chMax val="0"/>
          <dgm:bulletEnabled val="1"/>
        </dgm:presLayoutVars>
      </dgm:prSet>
      <dgm:spPr/>
    </dgm:pt>
    <dgm:pt modelId="{7C3F63E4-DDC8-DA40-9150-FBF6EA22BF50}" type="pres">
      <dgm:prSet presAssocID="{49F11CD4-E508-4845-A911-95225A2B6085}" presName="spacer" presStyleCnt="0"/>
      <dgm:spPr/>
    </dgm:pt>
    <dgm:pt modelId="{64BA9E6D-F839-CB4D-A4A2-BC5B5A885E12}" type="pres">
      <dgm:prSet presAssocID="{7014CC3E-23AD-4D68-8F1B-434A30293831}" presName="parentText" presStyleLbl="node1" presStyleIdx="1" presStyleCnt="3">
        <dgm:presLayoutVars>
          <dgm:chMax val="0"/>
          <dgm:bulletEnabled val="1"/>
        </dgm:presLayoutVars>
      </dgm:prSet>
      <dgm:spPr/>
    </dgm:pt>
    <dgm:pt modelId="{B03FF919-6280-344B-A9A3-C254B32A26D5}" type="pres">
      <dgm:prSet presAssocID="{035559FB-673D-4CF5-BD31-0C6567642F54}" presName="spacer" presStyleCnt="0"/>
      <dgm:spPr/>
    </dgm:pt>
    <dgm:pt modelId="{D3F7453C-74EA-2B4D-BC4F-BC92137F3881}" type="pres">
      <dgm:prSet presAssocID="{30094957-4948-482E-A930-7004C6D0AB95}" presName="parentText" presStyleLbl="node1" presStyleIdx="2" presStyleCnt="3">
        <dgm:presLayoutVars>
          <dgm:chMax val="0"/>
          <dgm:bulletEnabled val="1"/>
        </dgm:presLayoutVars>
      </dgm:prSet>
      <dgm:spPr/>
    </dgm:pt>
  </dgm:ptLst>
  <dgm:cxnLst>
    <dgm:cxn modelId="{7F58EC1A-0319-974C-A8F3-A48668B6C13E}" type="presOf" srcId="{30094957-4948-482E-A930-7004C6D0AB95}" destId="{D3F7453C-74EA-2B4D-BC4F-BC92137F3881}" srcOrd="0" destOrd="0" presId="urn:microsoft.com/office/officeart/2005/8/layout/vList2"/>
    <dgm:cxn modelId="{0E8D4456-F97C-574B-BA51-AE360DA79899}" type="presOf" srcId="{0A2E36E9-51E5-4D47-95A4-C37F7B980B0F}" destId="{1343EE2E-23CD-F944-9F61-685AA6DA142F}" srcOrd="0" destOrd="0" presId="urn:microsoft.com/office/officeart/2005/8/layout/vList2"/>
    <dgm:cxn modelId="{FFBB6A6C-09A0-8441-B91E-1C61A2D890D3}" type="presOf" srcId="{7014CC3E-23AD-4D68-8F1B-434A30293831}" destId="{64BA9E6D-F839-CB4D-A4A2-BC5B5A885E12}" srcOrd="0" destOrd="0" presId="urn:microsoft.com/office/officeart/2005/8/layout/vList2"/>
    <dgm:cxn modelId="{050C1186-DE2E-4E9B-A240-8133BE3E02D0}" srcId="{E4FE6697-7190-48D8-B62F-D645B4C45D14}" destId="{30094957-4948-482E-A930-7004C6D0AB95}" srcOrd="2" destOrd="0" parTransId="{F90170FA-3282-4F97-A2FB-AEB76BB0F462}" sibTransId="{3820727A-55B8-4372-9047-11EB626C74A5}"/>
    <dgm:cxn modelId="{2C1551A0-A021-7240-AF88-1F33968B30C9}" type="presOf" srcId="{E4FE6697-7190-48D8-B62F-D645B4C45D14}" destId="{B36DC682-90FA-F64A-A12A-ABFF229C103E}" srcOrd="0" destOrd="0" presId="urn:microsoft.com/office/officeart/2005/8/layout/vList2"/>
    <dgm:cxn modelId="{B0FB4FCE-612B-42A1-B36F-0FB0A12ABF76}" srcId="{E4FE6697-7190-48D8-B62F-D645B4C45D14}" destId="{0A2E36E9-51E5-4D47-95A4-C37F7B980B0F}" srcOrd="0" destOrd="0" parTransId="{44F6D4B2-83E0-4FBA-AA85-E3C6A8E13219}" sibTransId="{49F11CD4-E508-4845-A911-95225A2B6085}"/>
    <dgm:cxn modelId="{C4295BE6-45D7-4655-82EE-03B68C40629B}" srcId="{E4FE6697-7190-48D8-B62F-D645B4C45D14}" destId="{7014CC3E-23AD-4D68-8F1B-434A30293831}" srcOrd="1" destOrd="0" parTransId="{FDE9DF60-C08D-4C6A-BDCD-CDFA395CDAE3}" sibTransId="{035559FB-673D-4CF5-BD31-0C6567642F54}"/>
    <dgm:cxn modelId="{E0AF17B9-5305-C742-938D-2D0ECCF0481D}" type="presParOf" srcId="{B36DC682-90FA-F64A-A12A-ABFF229C103E}" destId="{1343EE2E-23CD-F944-9F61-685AA6DA142F}" srcOrd="0" destOrd="0" presId="urn:microsoft.com/office/officeart/2005/8/layout/vList2"/>
    <dgm:cxn modelId="{966C7222-C386-754D-A69B-395DB6FA8B1E}" type="presParOf" srcId="{B36DC682-90FA-F64A-A12A-ABFF229C103E}" destId="{7C3F63E4-DDC8-DA40-9150-FBF6EA22BF50}" srcOrd="1" destOrd="0" presId="urn:microsoft.com/office/officeart/2005/8/layout/vList2"/>
    <dgm:cxn modelId="{5CA3F6CF-F46D-CC40-8C83-E93771A0DA66}" type="presParOf" srcId="{B36DC682-90FA-F64A-A12A-ABFF229C103E}" destId="{64BA9E6D-F839-CB4D-A4A2-BC5B5A885E12}" srcOrd="2" destOrd="0" presId="urn:microsoft.com/office/officeart/2005/8/layout/vList2"/>
    <dgm:cxn modelId="{50DB438B-D796-7D4A-BDF9-E4B8654E8D4D}" type="presParOf" srcId="{B36DC682-90FA-F64A-A12A-ABFF229C103E}" destId="{B03FF919-6280-344B-A9A3-C254B32A26D5}" srcOrd="3" destOrd="0" presId="urn:microsoft.com/office/officeart/2005/8/layout/vList2"/>
    <dgm:cxn modelId="{380D3728-99C3-D24A-9537-8D4D4359F291}" type="presParOf" srcId="{B36DC682-90FA-F64A-A12A-ABFF229C103E}" destId="{D3F7453C-74EA-2B4D-BC4F-BC92137F3881}" srcOrd="4"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E7273E73-744B-49F7-8EB8-EC604EBED4C2}" type="doc">
      <dgm:prSet loTypeId="urn:microsoft.com/office/officeart/2005/8/layout/hList1" loCatId="list" qsTypeId="urn:microsoft.com/office/officeart/2005/8/quickstyle/simple1" qsCatId="simple" csTypeId="urn:microsoft.com/office/officeart/2005/8/colors/colorful2" csCatId="colorful" phldr="1"/>
      <dgm:spPr/>
      <dgm:t>
        <a:bodyPr/>
        <a:lstStyle/>
        <a:p>
          <a:endParaRPr lang="en-US"/>
        </a:p>
      </dgm:t>
    </dgm:pt>
    <dgm:pt modelId="{70229F9C-6A6C-4B11-8393-3B3E460D1F71}">
      <dgm:prSet/>
      <dgm:spPr/>
      <dgm:t>
        <a:bodyPr/>
        <a:lstStyle/>
        <a:p>
          <a:r>
            <a:rPr lang="en-US" dirty="0"/>
            <a:t>Analysis</a:t>
          </a:r>
        </a:p>
      </dgm:t>
    </dgm:pt>
    <dgm:pt modelId="{E9F665C3-FB0E-4BCB-85C7-15B3BFE65A71}" type="parTrans" cxnId="{2123159B-2F05-45BD-9491-4D02C34040CF}">
      <dgm:prSet/>
      <dgm:spPr/>
      <dgm:t>
        <a:bodyPr/>
        <a:lstStyle/>
        <a:p>
          <a:endParaRPr lang="en-US"/>
        </a:p>
      </dgm:t>
    </dgm:pt>
    <dgm:pt modelId="{8BED3B62-F944-4337-8A3A-1972D64C653F}" type="sibTrans" cxnId="{2123159B-2F05-45BD-9491-4D02C34040CF}">
      <dgm:prSet/>
      <dgm:spPr/>
      <dgm:t>
        <a:bodyPr/>
        <a:lstStyle/>
        <a:p>
          <a:endParaRPr lang="en-US"/>
        </a:p>
      </dgm:t>
    </dgm:pt>
    <dgm:pt modelId="{7F96D0AE-31C9-469F-921D-40B45AEF3CC3}">
      <dgm:prSet/>
      <dgm:spPr/>
      <dgm:t>
        <a:bodyPr/>
        <a:lstStyle/>
        <a:p>
          <a:r>
            <a:rPr lang="en-US"/>
            <a:t>Identify the most significant features influencing H1N1 and seasonal flu vaccine uptake.</a:t>
          </a:r>
        </a:p>
      </dgm:t>
    </dgm:pt>
    <dgm:pt modelId="{BF7AEBA7-4545-4AE3-A5AF-C9411F6B97AF}" type="parTrans" cxnId="{281B9415-B6EC-4E4D-93A2-FA77EFE994C8}">
      <dgm:prSet/>
      <dgm:spPr/>
      <dgm:t>
        <a:bodyPr/>
        <a:lstStyle/>
        <a:p>
          <a:endParaRPr lang="en-US"/>
        </a:p>
      </dgm:t>
    </dgm:pt>
    <dgm:pt modelId="{CB5E4C18-07F3-4B91-9C2D-8C8AC74E2A10}" type="sibTrans" cxnId="{281B9415-B6EC-4E4D-93A2-FA77EFE994C8}">
      <dgm:prSet/>
      <dgm:spPr/>
      <dgm:t>
        <a:bodyPr/>
        <a:lstStyle/>
        <a:p>
          <a:endParaRPr lang="en-US"/>
        </a:p>
      </dgm:t>
    </dgm:pt>
    <dgm:pt modelId="{D217B774-3D2D-4AE2-9CA9-71F13757721E}">
      <dgm:prSet/>
      <dgm:spPr/>
      <dgm:t>
        <a:bodyPr/>
        <a:lstStyle/>
        <a:p>
          <a:r>
            <a:rPr lang="en-US" dirty="0"/>
            <a:t>Modelling</a:t>
          </a:r>
        </a:p>
      </dgm:t>
    </dgm:pt>
    <dgm:pt modelId="{F9B71449-61A8-446A-A508-4734799E8F1C}" type="parTrans" cxnId="{42722DA4-13D0-4ADB-AD6B-A872646E814E}">
      <dgm:prSet/>
      <dgm:spPr/>
      <dgm:t>
        <a:bodyPr/>
        <a:lstStyle/>
        <a:p>
          <a:endParaRPr lang="en-US"/>
        </a:p>
      </dgm:t>
    </dgm:pt>
    <dgm:pt modelId="{A497165A-29B4-4441-BC38-0C94BFAFF97F}" type="sibTrans" cxnId="{42722DA4-13D0-4ADB-AD6B-A872646E814E}">
      <dgm:prSet/>
      <dgm:spPr/>
      <dgm:t>
        <a:bodyPr/>
        <a:lstStyle/>
        <a:p>
          <a:endParaRPr lang="en-US"/>
        </a:p>
      </dgm:t>
    </dgm:pt>
    <dgm:pt modelId="{1F36C3AB-E0B7-44BA-A40A-CFCD981842B5}">
      <dgm:prSet/>
      <dgm:spPr/>
      <dgm:t>
        <a:bodyPr/>
        <a:lstStyle/>
        <a:p>
          <a:r>
            <a:rPr lang="en-US"/>
            <a:t>Compare and fine-tune multiple classification algorithms for predicting vaccine uptake.</a:t>
          </a:r>
        </a:p>
      </dgm:t>
    </dgm:pt>
    <dgm:pt modelId="{54C82ECE-A6E3-4B32-9C8A-01B32D2DDFC0}" type="parTrans" cxnId="{7FA49772-5354-4F5D-9B39-1577EC316B16}">
      <dgm:prSet/>
      <dgm:spPr/>
      <dgm:t>
        <a:bodyPr/>
        <a:lstStyle/>
        <a:p>
          <a:endParaRPr lang="en-US"/>
        </a:p>
      </dgm:t>
    </dgm:pt>
    <dgm:pt modelId="{6323748B-1F72-4CD9-A2BC-478799E00AC3}" type="sibTrans" cxnId="{7FA49772-5354-4F5D-9B39-1577EC316B16}">
      <dgm:prSet/>
      <dgm:spPr/>
      <dgm:t>
        <a:bodyPr/>
        <a:lstStyle/>
        <a:p>
          <a:endParaRPr lang="en-US"/>
        </a:p>
      </dgm:t>
    </dgm:pt>
    <dgm:pt modelId="{F992CE0C-D0FB-488B-BB78-1071A5C23568}">
      <dgm:prSet/>
      <dgm:spPr/>
      <dgm:t>
        <a:bodyPr/>
        <a:lstStyle/>
        <a:p>
          <a:r>
            <a:rPr lang="en-US" dirty="0"/>
            <a:t>Deployment</a:t>
          </a:r>
        </a:p>
      </dgm:t>
    </dgm:pt>
    <dgm:pt modelId="{4DB57F0B-9A9E-4B39-93D7-65B2F0F926E8}" type="parTrans" cxnId="{352FC4B2-BFDF-4A2E-AC15-BBFF2C2B8245}">
      <dgm:prSet/>
      <dgm:spPr/>
      <dgm:t>
        <a:bodyPr/>
        <a:lstStyle/>
        <a:p>
          <a:endParaRPr lang="en-US"/>
        </a:p>
      </dgm:t>
    </dgm:pt>
    <dgm:pt modelId="{15BE297B-6BDE-4C05-87FB-234A4F41C5DA}" type="sibTrans" cxnId="{352FC4B2-BFDF-4A2E-AC15-BBFF2C2B8245}">
      <dgm:prSet/>
      <dgm:spPr/>
      <dgm:t>
        <a:bodyPr/>
        <a:lstStyle/>
        <a:p>
          <a:endParaRPr lang="en-US"/>
        </a:p>
      </dgm:t>
    </dgm:pt>
    <dgm:pt modelId="{FC49BD0E-C9AD-41FC-887F-0F30F8B57F40}">
      <dgm:prSet/>
      <dgm:spPr/>
      <dgm:t>
        <a:bodyPr/>
        <a:lstStyle/>
        <a:p>
          <a:r>
            <a:rPr lang="en-US"/>
            <a:t>Develop a web-based application for predicting vaccination uptake based on individual characteristics.</a:t>
          </a:r>
        </a:p>
      </dgm:t>
    </dgm:pt>
    <dgm:pt modelId="{D937D4DF-4F28-47D3-8DE1-8102849B4902}" type="parTrans" cxnId="{498E2C9A-03C1-428F-8E40-0B2254A7B5B8}">
      <dgm:prSet/>
      <dgm:spPr/>
      <dgm:t>
        <a:bodyPr/>
        <a:lstStyle/>
        <a:p>
          <a:endParaRPr lang="en-US"/>
        </a:p>
      </dgm:t>
    </dgm:pt>
    <dgm:pt modelId="{D927E1B8-2E43-4A37-B55D-65D2008F5877}" type="sibTrans" cxnId="{498E2C9A-03C1-428F-8E40-0B2254A7B5B8}">
      <dgm:prSet/>
      <dgm:spPr/>
      <dgm:t>
        <a:bodyPr/>
        <a:lstStyle/>
        <a:p>
          <a:endParaRPr lang="en-US"/>
        </a:p>
      </dgm:t>
    </dgm:pt>
    <dgm:pt modelId="{AF4D1979-8947-F645-B314-0EBC58A2B250}" type="pres">
      <dgm:prSet presAssocID="{E7273E73-744B-49F7-8EB8-EC604EBED4C2}" presName="Name0" presStyleCnt="0">
        <dgm:presLayoutVars>
          <dgm:dir/>
          <dgm:animLvl val="lvl"/>
          <dgm:resizeHandles val="exact"/>
        </dgm:presLayoutVars>
      </dgm:prSet>
      <dgm:spPr/>
    </dgm:pt>
    <dgm:pt modelId="{676FCC74-3A56-8B42-AEBE-87491A9E39BD}" type="pres">
      <dgm:prSet presAssocID="{70229F9C-6A6C-4B11-8393-3B3E460D1F71}" presName="composite" presStyleCnt="0"/>
      <dgm:spPr/>
    </dgm:pt>
    <dgm:pt modelId="{AB2D99EA-2110-C64C-8EBE-C947159D5992}" type="pres">
      <dgm:prSet presAssocID="{70229F9C-6A6C-4B11-8393-3B3E460D1F71}" presName="parTx" presStyleLbl="alignNode1" presStyleIdx="0" presStyleCnt="3">
        <dgm:presLayoutVars>
          <dgm:chMax val="0"/>
          <dgm:chPref val="0"/>
          <dgm:bulletEnabled val="1"/>
        </dgm:presLayoutVars>
      </dgm:prSet>
      <dgm:spPr/>
    </dgm:pt>
    <dgm:pt modelId="{3B94E3A9-2F36-6D4F-8F5D-D1FBDF2FD150}" type="pres">
      <dgm:prSet presAssocID="{70229F9C-6A6C-4B11-8393-3B3E460D1F71}" presName="desTx" presStyleLbl="alignAccFollowNode1" presStyleIdx="0" presStyleCnt="3">
        <dgm:presLayoutVars>
          <dgm:bulletEnabled val="1"/>
        </dgm:presLayoutVars>
      </dgm:prSet>
      <dgm:spPr/>
    </dgm:pt>
    <dgm:pt modelId="{1B8F63F9-E8DB-C24A-90AB-95135D93B3CB}" type="pres">
      <dgm:prSet presAssocID="{8BED3B62-F944-4337-8A3A-1972D64C653F}" presName="space" presStyleCnt="0"/>
      <dgm:spPr/>
    </dgm:pt>
    <dgm:pt modelId="{DA94F673-23A4-B849-AA3E-78074CC31081}" type="pres">
      <dgm:prSet presAssocID="{D217B774-3D2D-4AE2-9CA9-71F13757721E}" presName="composite" presStyleCnt="0"/>
      <dgm:spPr/>
    </dgm:pt>
    <dgm:pt modelId="{17BA4CF7-F6B1-FE4A-BCB2-B7738C6137E2}" type="pres">
      <dgm:prSet presAssocID="{D217B774-3D2D-4AE2-9CA9-71F13757721E}" presName="parTx" presStyleLbl="alignNode1" presStyleIdx="1" presStyleCnt="3">
        <dgm:presLayoutVars>
          <dgm:chMax val="0"/>
          <dgm:chPref val="0"/>
          <dgm:bulletEnabled val="1"/>
        </dgm:presLayoutVars>
      </dgm:prSet>
      <dgm:spPr/>
    </dgm:pt>
    <dgm:pt modelId="{1F9C5688-8162-7A43-82F3-D73084C24D84}" type="pres">
      <dgm:prSet presAssocID="{D217B774-3D2D-4AE2-9CA9-71F13757721E}" presName="desTx" presStyleLbl="alignAccFollowNode1" presStyleIdx="1" presStyleCnt="3">
        <dgm:presLayoutVars>
          <dgm:bulletEnabled val="1"/>
        </dgm:presLayoutVars>
      </dgm:prSet>
      <dgm:spPr/>
    </dgm:pt>
    <dgm:pt modelId="{BFA8D7B2-9264-DF49-87E6-AF026F32183A}" type="pres">
      <dgm:prSet presAssocID="{A497165A-29B4-4441-BC38-0C94BFAFF97F}" presName="space" presStyleCnt="0"/>
      <dgm:spPr/>
    </dgm:pt>
    <dgm:pt modelId="{FFA4E497-7AC0-0946-BDDE-BCEDEAC570AF}" type="pres">
      <dgm:prSet presAssocID="{F992CE0C-D0FB-488B-BB78-1071A5C23568}" presName="composite" presStyleCnt="0"/>
      <dgm:spPr/>
    </dgm:pt>
    <dgm:pt modelId="{75C2FB55-5DF6-8E49-840A-C79695773850}" type="pres">
      <dgm:prSet presAssocID="{F992CE0C-D0FB-488B-BB78-1071A5C23568}" presName="parTx" presStyleLbl="alignNode1" presStyleIdx="2" presStyleCnt="3">
        <dgm:presLayoutVars>
          <dgm:chMax val="0"/>
          <dgm:chPref val="0"/>
          <dgm:bulletEnabled val="1"/>
        </dgm:presLayoutVars>
      </dgm:prSet>
      <dgm:spPr/>
    </dgm:pt>
    <dgm:pt modelId="{A800D37B-CD52-ED4B-AB79-B2F276D38174}" type="pres">
      <dgm:prSet presAssocID="{F992CE0C-D0FB-488B-BB78-1071A5C23568}" presName="desTx" presStyleLbl="alignAccFollowNode1" presStyleIdx="2" presStyleCnt="3">
        <dgm:presLayoutVars>
          <dgm:bulletEnabled val="1"/>
        </dgm:presLayoutVars>
      </dgm:prSet>
      <dgm:spPr/>
    </dgm:pt>
  </dgm:ptLst>
  <dgm:cxnLst>
    <dgm:cxn modelId="{E25D6508-0E13-804A-A0B5-BF521B747646}" type="presOf" srcId="{1F36C3AB-E0B7-44BA-A40A-CFCD981842B5}" destId="{1F9C5688-8162-7A43-82F3-D73084C24D84}" srcOrd="0" destOrd="0" presId="urn:microsoft.com/office/officeart/2005/8/layout/hList1"/>
    <dgm:cxn modelId="{281B9415-B6EC-4E4D-93A2-FA77EFE994C8}" srcId="{70229F9C-6A6C-4B11-8393-3B3E460D1F71}" destId="{7F96D0AE-31C9-469F-921D-40B45AEF3CC3}" srcOrd="0" destOrd="0" parTransId="{BF7AEBA7-4545-4AE3-A5AF-C9411F6B97AF}" sibTransId="{CB5E4C18-07F3-4B91-9C2D-8C8AC74E2A10}"/>
    <dgm:cxn modelId="{BA46B520-BB8A-E84A-9874-FD4F4B8B7DFA}" type="presOf" srcId="{70229F9C-6A6C-4B11-8393-3B3E460D1F71}" destId="{AB2D99EA-2110-C64C-8EBE-C947159D5992}" srcOrd="0" destOrd="0" presId="urn:microsoft.com/office/officeart/2005/8/layout/hList1"/>
    <dgm:cxn modelId="{6555D13D-E540-754F-9D28-4E1D90E5AF9C}" type="presOf" srcId="{D217B774-3D2D-4AE2-9CA9-71F13757721E}" destId="{17BA4CF7-F6B1-FE4A-BCB2-B7738C6137E2}" srcOrd="0" destOrd="0" presId="urn:microsoft.com/office/officeart/2005/8/layout/hList1"/>
    <dgm:cxn modelId="{7FA49772-5354-4F5D-9B39-1577EC316B16}" srcId="{D217B774-3D2D-4AE2-9CA9-71F13757721E}" destId="{1F36C3AB-E0B7-44BA-A40A-CFCD981842B5}" srcOrd="0" destOrd="0" parTransId="{54C82ECE-A6E3-4B32-9C8A-01B32D2DDFC0}" sibTransId="{6323748B-1F72-4CD9-A2BC-478799E00AC3}"/>
    <dgm:cxn modelId="{CC4F3D7C-57B8-8F4D-9AD4-59E3EC3DEC85}" type="presOf" srcId="{FC49BD0E-C9AD-41FC-887F-0F30F8B57F40}" destId="{A800D37B-CD52-ED4B-AB79-B2F276D38174}" srcOrd="0" destOrd="0" presId="urn:microsoft.com/office/officeart/2005/8/layout/hList1"/>
    <dgm:cxn modelId="{8EA54B91-EFF3-284E-B55B-2E7F2DF955BA}" type="presOf" srcId="{E7273E73-744B-49F7-8EB8-EC604EBED4C2}" destId="{AF4D1979-8947-F645-B314-0EBC58A2B250}" srcOrd="0" destOrd="0" presId="urn:microsoft.com/office/officeart/2005/8/layout/hList1"/>
    <dgm:cxn modelId="{FF0B8E97-17AE-8A4D-B1D6-8887615FC840}" type="presOf" srcId="{F992CE0C-D0FB-488B-BB78-1071A5C23568}" destId="{75C2FB55-5DF6-8E49-840A-C79695773850}" srcOrd="0" destOrd="0" presId="urn:microsoft.com/office/officeart/2005/8/layout/hList1"/>
    <dgm:cxn modelId="{3303A197-1DE5-604B-85D2-6F591A4F95C2}" type="presOf" srcId="{7F96D0AE-31C9-469F-921D-40B45AEF3CC3}" destId="{3B94E3A9-2F36-6D4F-8F5D-D1FBDF2FD150}" srcOrd="0" destOrd="0" presId="urn:microsoft.com/office/officeart/2005/8/layout/hList1"/>
    <dgm:cxn modelId="{498E2C9A-03C1-428F-8E40-0B2254A7B5B8}" srcId="{F992CE0C-D0FB-488B-BB78-1071A5C23568}" destId="{FC49BD0E-C9AD-41FC-887F-0F30F8B57F40}" srcOrd="0" destOrd="0" parTransId="{D937D4DF-4F28-47D3-8DE1-8102849B4902}" sibTransId="{D927E1B8-2E43-4A37-B55D-65D2008F5877}"/>
    <dgm:cxn modelId="{2123159B-2F05-45BD-9491-4D02C34040CF}" srcId="{E7273E73-744B-49F7-8EB8-EC604EBED4C2}" destId="{70229F9C-6A6C-4B11-8393-3B3E460D1F71}" srcOrd="0" destOrd="0" parTransId="{E9F665C3-FB0E-4BCB-85C7-15B3BFE65A71}" sibTransId="{8BED3B62-F944-4337-8A3A-1972D64C653F}"/>
    <dgm:cxn modelId="{42722DA4-13D0-4ADB-AD6B-A872646E814E}" srcId="{E7273E73-744B-49F7-8EB8-EC604EBED4C2}" destId="{D217B774-3D2D-4AE2-9CA9-71F13757721E}" srcOrd="1" destOrd="0" parTransId="{F9B71449-61A8-446A-A508-4734799E8F1C}" sibTransId="{A497165A-29B4-4441-BC38-0C94BFAFF97F}"/>
    <dgm:cxn modelId="{352FC4B2-BFDF-4A2E-AC15-BBFF2C2B8245}" srcId="{E7273E73-744B-49F7-8EB8-EC604EBED4C2}" destId="{F992CE0C-D0FB-488B-BB78-1071A5C23568}" srcOrd="2" destOrd="0" parTransId="{4DB57F0B-9A9E-4B39-93D7-65B2F0F926E8}" sibTransId="{15BE297B-6BDE-4C05-87FB-234A4F41C5DA}"/>
    <dgm:cxn modelId="{A6F3AB08-2357-964B-B4D7-06B2012A7DF2}" type="presParOf" srcId="{AF4D1979-8947-F645-B314-0EBC58A2B250}" destId="{676FCC74-3A56-8B42-AEBE-87491A9E39BD}" srcOrd="0" destOrd="0" presId="urn:microsoft.com/office/officeart/2005/8/layout/hList1"/>
    <dgm:cxn modelId="{8115F2DC-C6EB-674C-86B0-C7933220A91B}" type="presParOf" srcId="{676FCC74-3A56-8B42-AEBE-87491A9E39BD}" destId="{AB2D99EA-2110-C64C-8EBE-C947159D5992}" srcOrd="0" destOrd="0" presId="urn:microsoft.com/office/officeart/2005/8/layout/hList1"/>
    <dgm:cxn modelId="{B2008DA0-1B70-8440-8B91-8998493CFF7B}" type="presParOf" srcId="{676FCC74-3A56-8B42-AEBE-87491A9E39BD}" destId="{3B94E3A9-2F36-6D4F-8F5D-D1FBDF2FD150}" srcOrd="1" destOrd="0" presId="urn:microsoft.com/office/officeart/2005/8/layout/hList1"/>
    <dgm:cxn modelId="{5C0FD98C-02C4-2541-AF5E-F1316057BAA4}" type="presParOf" srcId="{AF4D1979-8947-F645-B314-0EBC58A2B250}" destId="{1B8F63F9-E8DB-C24A-90AB-95135D93B3CB}" srcOrd="1" destOrd="0" presId="urn:microsoft.com/office/officeart/2005/8/layout/hList1"/>
    <dgm:cxn modelId="{CC10696E-467D-6849-B030-B31EF31923F1}" type="presParOf" srcId="{AF4D1979-8947-F645-B314-0EBC58A2B250}" destId="{DA94F673-23A4-B849-AA3E-78074CC31081}" srcOrd="2" destOrd="0" presId="urn:microsoft.com/office/officeart/2005/8/layout/hList1"/>
    <dgm:cxn modelId="{90449549-C2C5-794A-B380-5CCCBDD7BC3B}" type="presParOf" srcId="{DA94F673-23A4-B849-AA3E-78074CC31081}" destId="{17BA4CF7-F6B1-FE4A-BCB2-B7738C6137E2}" srcOrd="0" destOrd="0" presId="urn:microsoft.com/office/officeart/2005/8/layout/hList1"/>
    <dgm:cxn modelId="{EAD8A84D-B684-8A41-9E59-2E8BA91D6FB1}" type="presParOf" srcId="{DA94F673-23A4-B849-AA3E-78074CC31081}" destId="{1F9C5688-8162-7A43-82F3-D73084C24D84}" srcOrd="1" destOrd="0" presId="urn:microsoft.com/office/officeart/2005/8/layout/hList1"/>
    <dgm:cxn modelId="{6554C9BB-8B2D-A84B-9AD1-2DD8F311B8D5}" type="presParOf" srcId="{AF4D1979-8947-F645-B314-0EBC58A2B250}" destId="{BFA8D7B2-9264-DF49-87E6-AF026F32183A}" srcOrd="3" destOrd="0" presId="urn:microsoft.com/office/officeart/2005/8/layout/hList1"/>
    <dgm:cxn modelId="{991EC6FB-4E20-3548-9046-CB220157FF3E}" type="presParOf" srcId="{AF4D1979-8947-F645-B314-0EBC58A2B250}" destId="{FFA4E497-7AC0-0946-BDDE-BCEDEAC570AF}" srcOrd="4" destOrd="0" presId="urn:microsoft.com/office/officeart/2005/8/layout/hList1"/>
    <dgm:cxn modelId="{7870791B-0209-F548-8ED7-6DFE89E76F7C}" type="presParOf" srcId="{FFA4E497-7AC0-0946-BDDE-BCEDEAC570AF}" destId="{75C2FB55-5DF6-8E49-840A-C79695773850}" srcOrd="0" destOrd="0" presId="urn:microsoft.com/office/officeart/2005/8/layout/hList1"/>
    <dgm:cxn modelId="{B5429FB6-FE60-EC41-A4C0-99C253F96FDC}" type="presParOf" srcId="{FFA4E497-7AC0-0946-BDDE-BCEDEAC570AF}" destId="{A800D37B-CD52-ED4B-AB79-B2F276D38174}" srcOrd="1" destOrd="0" presId="urn:microsoft.com/office/officeart/2005/8/layout/h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F76F600-F6DA-4B3F-985A-CF93340B870F}"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E6C60A3C-FC3F-41A9-A6E4-8FE545B06431}">
      <dgm:prSet/>
      <dgm:spPr/>
      <dgm:t>
        <a:bodyPr/>
        <a:lstStyle/>
        <a:p>
          <a:pPr>
            <a:lnSpc>
              <a:spcPct val="100000"/>
            </a:lnSpc>
          </a:pPr>
          <a:r>
            <a:rPr lang="en-GB" b="1">
              <a:solidFill>
                <a:schemeClr val="bg1"/>
              </a:solidFill>
            </a:rPr>
            <a:t>Source:</a:t>
          </a:r>
          <a:r>
            <a:rPr lang="en-GB">
              <a:solidFill>
                <a:schemeClr val="bg1"/>
              </a:solidFill>
            </a:rPr>
            <a:t> DrivenData Flu Shot Learning Challenge.</a:t>
          </a:r>
          <a:endParaRPr lang="en-US">
            <a:solidFill>
              <a:schemeClr val="bg1"/>
            </a:solidFill>
          </a:endParaRPr>
        </a:p>
      </dgm:t>
    </dgm:pt>
    <dgm:pt modelId="{398F797F-43C0-4639-850D-89C7DF2F58BA}" type="parTrans" cxnId="{B61C369C-1F76-4E6E-9F24-ED798EA510AB}">
      <dgm:prSet/>
      <dgm:spPr/>
      <dgm:t>
        <a:bodyPr/>
        <a:lstStyle/>
        <a:p>
          <a:endParaRPr lang="en-US">
            <a:solidFill>
              <a:schemeClr val="bg1"/>
            </a:solidFill>
          </a:endParaRPr>
        </a:p>
      </dgm:t>
    </dgm:pt>
    <dgm:pt modelId="{B2AE20F5-0329-46E0-9381-8745DBB1FB3E}" type="sibTrans" cxnId="{B61C369C-1F76-4E6E-9F24-ED798EA510AB}">
      <dgm:prSet/>
      <dgm:spPr/>
      <dgm:t>
        <a:bodyPr/>
        <a:lstStyle/>
        <a:p>
          <a:endParaRPr lang="en-US">
            <a:solidFill>
              <a:schemeClr val="bg1"/>
            </a:solidFill>
          </a:endParaRPr>
        </a:p>
      </dgm:t>
    </dgm:pt>
    <dgm:pt modelId="{08078AEC-FE49-4DA4-BD71-1C26CB2544FC}">
      <dgm:prSet/>
      <dgm:spPr/>
      <dgm:t>
        <a:bodyPr/>
        <a:lstStyle/>
        <a:p>
          <a:pPr>
            <a:lnSpc>
              <a:spcPct val="100000"/>
            </a:lnSpc>
          </a:pPr>
          <a:r>
            <a:rPr lang="en-GB" b="1">
              <a:solidFill>
                <a:schemeClr val="bg1"/>
              </a:solidFill>
            </a:rPr>
            <a:t>Size &amp; Format:</a:t>
          </a:r>
          <a:r>
            <a:rPr lang="en-GB">
              <a:solidFill>
                <a:schemeClr val="bg1"/>
              </a:solidFill>
            </a:rPr>
            <a:t> Approximately 26,000 entries in CSV format.</a:t>
          </a:r>
          <a:endParaRPr lang="en-US">
            <a:solidFill>
              <a:schemeClr val="bg1"/>
            </a:solidFill>
          </a:endParaRPr>
        </a:p>
      </dgm:t>
    </dgm:pt>
    <dgm:pt modelId="{90F9EE8E-40E5-45B1-A995-ED8D5391CA55}" type="parTrans" cxnId="{4CB516D0-E026-4B7E-8F4E-14E0C0DB6CE8}">
      <dgm:prSet/>
      <dgm:spPr/>
      <dgm:t>
        <a:bodyPr/>
        <a:lstStyle/>
        <a:p>
          <a:endParaRPr lang="en-US">
            <a:solidFill>
              <a:schemeClr val="bg1"/>
            </a:solidFill>
          </a:endParaRPr>
        </a:p>
      </dgm:t>
    </dgm:pt>
    <dgm:pt modelId="{927A6407-2B4B-4A24-B196-637174FCFCF4}" type="sibTrans" cxnId="{4CB516D0-E026-4B7E-8F4E-14E0C0DB6CE8}">
      <dgm:prSet/>
      <dgm:spPr/>
      <dgm:t>
        <a:bodyPr/>
        <a:lstStyle/>
        <a:p>
          <a:endParaRPr lang="en-US">
            <a:solidFill>
              <a:schemeClr val="bg1"/>
            </a:solidFill>
          </a:endParaRPr>
        </a:p>
      </dgm:t>
    </dgm:pt>
    <dgm:pt modelId="{7E603D16-6CA9-42EA-85FC-614F3A8D95CA}">
      <dgm:prSet/>
      <dgm:spPr/>
      <dgm:t>
        <a:bodyPr/>
        <a:lstStyle/>
        <a:p>
          <a:pPr>
            <a:lnSpc>
              <a:spcPct val="100000"/>
            </a:lnSpc>
          </a:pPr>
          <a:r>
            <a:rPr lang="en-GB" b="1">
              <a:solidFill>
                <a:schemeClr val="bg1"/>
              </a:solidFill>
            </a:rPr>
            <a:t>Key Features:</a:t>
          </a:r>
          <a:r>
            <a:rPr lang="en-GB">
              <a:solidFill>
                <a:schemeClr val="bg1"/>
              </a:solidFill>
            </a:rPr>
            <a:t> Demographics, Health &amp; Access data, Beliefs and Behaviour.</a:t>
          </a:r>
          <a:endParaRPr lang="en-US">
            <a:solidFill>
              <a:schemeClr val="bg1"/>
            </a:solidFill>
          </a:endParaRPr>
        </a:p>
      </dgm:t>
    </dgm:pt>
    <dgm:pt modelId="{84679C93-D57E-4A90-833E-69F543C89741}" type="parTrans" cxnId="{708A61CE-3DC9-465E-9D62-78790018F866}">
      <dgm:prSet/>
      <dgm:spPr/>
      <dgm:t>
        <a:bodyPr/>
        <a:lstStyle/>
        <a:p>
          <a:endParaRPr lang="en-US">
            <a:solidFill>
              <a:schemeClr val="bg1"/>
            </a:solidFill>
          </a:endParaRPr>
        </a:p>
      </dgm:t>
    </dgm:pt>
    <dgm:pt modelId="{C64A360F-3136-41D1-8047-51A5A6DAD655}" type="sibTrans" cxnId="{708A61CE-3DC9-465E-9D62-78790018F866}">
      <dgm:prSet/>
      <dgm:spPr/>
      <dgm:t>
        <a:bodyPr/>
        <a:lstStyle/>
        <a:p>
          <a:endParaRPr lang="en-US">
            <a:solidFill>
              <a:schemeClr val="bg1"/>
            </a:solidFill>
          </a:endParaRPr>
        </a:p>
      </dgm:t>
    </dgm:pt>
    <dgm:pt modelId="{279014DD-19FB-4B5F-89D7-52F1CF462355}">
      <dgm:prSet/>
      <dgm:spPr/>
      <dgm:t>
        <a:bodyPr/>
        <a:lstStyle/>
        <a:p>
          <a:pPr>
            <a:lnSpc>
              <a:spcPct val="100000"/>
            </a:lnSpc>
          </a:pPr>
          <a:r>
            <a:rPr lang="en-GB" b="1" dirty="0">
              <a:solidFill>
                <a:schemeClr val="bg1"/>
              </a:solidFill>
            </a:rPr>
            <a:t>Target Variables:</a:t>
          </a:r>
          <a:r>
            <a:rPr lang="en-GB" dirty="0">
              <a:solidFill>
                <a:schemeClr val="bg1"/>
              </a:solidFill>
            </a:rPr>
            <a:t> h1n1 vaccine and seasonal vaccine (binary: 1 for vaccinated, 0 for not).</a:t>
          </a:r>
          <a:endParaRPr lang="en-US" dirty="0">
            <a:solidFill>
              <a:schemeClr val="bg1"/>
            </a:solidFill>
          </a:endParaRPr>
        </a:p>
      </dgm:t>
    </dgm:pt>
    <dgm:pt modelId="{8F3360EE-BEFC-454A-915D-1991CD0D7466}" type="parTrans" cxnId="{DAABA5B6-3D09-46F1-AD40-8423DCAEA810}">
      <dgm:prSet/>
      <dgm:spPr/>
      <dgm:t>
        <a:bodyPr/>
        <a:lstStyle/>
        <a:p>
          <a:endParaRPr lang="en-US">
            <a:solidFill>
              <a:schemeClr val="bg1"/>
            </a:solidFill>
          </a:endParaRPr>
        </a:p>
      </dgm:t>
    </dgm:pt>
    <dgm:pt modelId="{8BD4AA00-17D2-4CBD-8C4D-2ED240A5F768}" type="sibTrans" cxnId="{DAABA5B6-3D09-46F1-AD40-8423DCAEA810}">
      <dgm:prSet/>
      <dgm:spPr/>
      <dgm:t>
        <a:bodyPr/>
        <a:lstStyle/>
        <a:p>
          <a:endParaRPr lang="en-US">
            <a:solidFill>
              <a:schemeClr val="bg1"/>
            </a:solidFill>
          </a:endParaRPr>
        </a:p>
      </dgm:t>
    </dgm:pt>
    <dgm:pt modelId="{A41AB0FA-CB04-4B42-B005-F414231B6752}" type="pres">
      <dgm:prSet presAssocID="{7F76F600-F6DA-4B3F-985A-CF93340B870F}" presName="root" presStyleCnt="0">
        <dgm:presLayoutVars>
          <dgm:dir/>
          <dgm:resizeHandles val="exact"/>
        </dgm:presLayoutVars>
      </dgm:prSet>
      <dgm:spPr/>
    </dgm:pt>
    <dgm:pt modelId="{86F954E4-67A1-4E87-87DA-E610318B5A1E}" type="pres">
      <dgm:prSet presAssocID="{E6C60A3C-FC3F-41A9-A6E4-8FE545B06431}" presName="compNode" presStyleCnt="0"/>
      <dgm:spPr/>
    </dgm:pt>
    <dgm:pt modelId="{729FCFAE-3FC3-4BB0-82B6-7CB6A2C425A4}" type="pres">
      <dgm:prSet presAssocID="{E6C60A3C-FC3F-41A9-A6E4-8FE545B06431}" presName="bgRect" presStyleLbl="bgShp" presStyleIdx="0" presStyleCnt="4"/>
      <dgm:spPr>
        <a:solidFill>
          <a:srgbClr val="EC7E31"/>
        </a:solidFill>
      </dgm:spPr>
    </dgm:pt>
    <dgm:pt modelId="{DBEE57B4-9412-4BDE-A81A-37E0B91C387D}" type="pres">
      <dgm:prSet presAssocID="{E6C60A3C-FC3F-41A9-A6E4-8FE545B0643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dgm:spPr>
      <dgm:extLst>
        <a:ext uri="{E40237B7-FDA0-4F09-8148-C483321AD2D9}">
          <dgm14:cNvPr xmlns:dgm14="http://schemas.microsoft.com/office/drawing/2010/diagram" id="0" name="" descr="Eye dropper"/>
        </a:ext>
      </dgm:extLst>
    </dgm:pt>
    <dgm:pt modelId="{A2B515E8-29C7-4AB6-B333-1625DB08187A}" type="pres">
      <dgm:prSet presAssocID="{E6C60A3C-FC3F-41A9-A6E4-8FE545B06431}" presName="spaceRect" presStyleCnt="0"/>
      <dgm:spPr/>
    </dgm:pt>
    <dgm:pt modelId="{B3A216D5-C066-432D-9713-661ADCE81327}" type="pres">
      <dgm:prSet presAssocID="{E6C60A3C-FC3F-41A9-A6E4-8FE545B06431}" presName="parTx" presStyleLbl="revTx" presStyleIdx="0" presStyleCnt="4">
        <dgm:presLayoutVars>
          <dgm:chMax val="0"/>
          <dgm:chPref val="0"/>
        </dgm:presLayoutVars>
      </dgm:prSet>
      <dgm:spPr/>
    </dgm:pt>
    <dgm:pt modelId="{9EDCAEE7-9058-4836-81B7-AC2437D275D5}" type="pres">
      <dgm:prSet presAssocID="{B2AE20F5-0329-46E0-9381-8745DBB1FB3E}" presName="sibTrans" presStyleCnt="0"/>
      <dgm:spPr/>
    </dgm:pt>
    <dgm:pt modelId="{21981634-1D1B-42AC-BE38-DEAEFB0242B5}" type="pres">
      <dgm:prSet presAssocID="{08078AEC-FE49-4DA4-BD71-1C26CB2544FC}" presName="compNode" presStyleCnt="0"/>
      <dgm:spPr/>
    </dgm:pt>
    <dgm:pt modelId="{E9B214C3-825A-40C5-90A7-6625BE54A290}" type="pres">
      <dgm:prSet presAssocID="{08078AEC-FE49-4DA4-BD71-1C26CB2544FC}" presName="bgRect" presStyleLbl="bgShp" presStyleIdx="1" presStyleCnt="4"/>
      <dgm:spPr>
        <a:solidFill>
          <a:srgbClr val="C38171"/>
        </a:solidFill>
      </dgm:spPr>
    </dgm:pt>
    <dgm:pt modelId="{7084DB98-9D46-43E9-8408-52638FD639A4}" type="pres">
      <dgm:prSet presAssocID="{08078AEC-FE49-4DA4-BD71-1C26CB2544FC}"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dgm:spPr>
      <dgm:extLst>
        <a:ext uri="{E40237B7-FDA0-4F09-8148-C483321AD2D9}">
          <dgm14:cNvPr xmlns:dgm14="http://schemas.microsoft.com/office/drawing/2010/diagram" id="0" name="" descr="Web Design"/>
        </a:ext>
      </dgm:extLst>
    </dgm:pt>
    <dgm:pt modelId="{2F5A3626-2166-4E36-898D-9F63CED44A69}" type="pres">
      <dgm:prSet presAssocID="{08078AEC-FE49-4DA4-BD71-1C26CB2544FC}" presName="spaceRect" presStyleCnt="0"/>
      <dgm:spPr/>
    </dgm:pt>
    <dgm:pt modelId="{0888C308-0316-43E6-B040-35C413751DEE}" type="pres">
      <dgm:prSet presAssocID="{08078AEC-FE49-4DA4-BD71-1C26CB2544FC}" presName="parTx" presStyleLbl="revTx" presStyleIdx="1" presStyleCnt="4">
        <dgm:presLayoutVars>
          <dgm:chMax val="0"/>
          <dgm:chPref val="0"/>
        </dgm:presLayoutVars>
      </dgm:prSet>
      <dgm:spPr/>
    </dgm:pt>
    <dgm:pt modelId="{DD598A55-27C5-42DF-828B-69ED9AC1B427}" type="pres">
      <dgm:prSet presAssocID="{927A6407-2B4B-4A24-B196-637174FCFCF4}" presName="sibTrans" presStyleCnt="0"/>
      <dgm:spPr/>
    </dgm:pt>
    <dgm:pt modelId="{C1383AE7-9ECA-4F3B-95A3-2F98A8504758}" type="pres">
      <dgm:prSet presAssocID="{7E603D16-6CA9-42EA-85FC-614F3A8D95CA}" presName="compNode" presStyleCnt="0"/>
      <dgm:spPr/>
    </dgm:pt>
    <dgm:pt modelId="{BA61A4E9-BC06-407E-9201-C9DE4E39B3A5}" type="pres">
      <dgm:prSet presAssocID="{7E603D16-6CA9-42EA-85FC-614F3A8D95CA}" presName="bgRect" presStyleLbl="bgShp" presStyleIdx="2" presStyleCnt="4"/>
      <dgm:spPr>
        <a:solidFill>
          <a:srgbClr val="A6A5A4"/>
        </a:solidFill>
      </dgm:spPr>
    </dgm:pt>
    <dgm:pt modelId="{4C0C735C-2788-4CE6-95B1-6CBF46BD4E82}" type="pres">
      <dgm:prSet presAssocID="{7E603D16-6CA9-42EA-85FC-614F3A8D95CA}"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dgm:spPr>
      <dgm:extLst>
        <a:ext uri="{E40237B7-FDA0-4F09-8148-C483321AD2D9}">
          <dgm14:cNvPr xmlns:dgm14="http://schemas.microsoft.com/office/drawing/2010/diagram" id="0" name="" descr="Key"/>
        </a:ext>
      </dgm:extLst>
    </dgm:pt>
    <dgm:pt modelId="{6EC96BA7-EFAC-4215-9EBC-011ABE6F512E}" type="pres">
      <dgm:prSet presAssocID="{7E603D16-6CA9-42EA-85FC-614F3A8D95CA}" presName="spaceRect" presStyleCnt="0"/>
      <dgm:spPr/>
    </dgm:pt>
    <dgm:pt modelId="{DC083618-86BE-428D-8F0F-69995E1D693F}" type="pres">
      <dgm:prSet presAssocID="{7E603D16-6CA9-42EA-85FC-614F3A8D95CA}" presName="parTx" presStyleLbl="revTx" presStyleIdx="2" presStyleCnt="4">
        <dgm:presLayoutVars>
          <dgm:chMax val="0"/>
          <dgm:chPref val="0"/>
        </dgm:presLayoutVars>
      </dgm:prSet>
      <dgm:spPr/>
    </dgm:pt>
    <dgm:pt modelId="{35387C70-8737-434E-A42B-3D64B17373F6}" type="pres">
      <dgm:prSet presAssocID="{C64A360F-3136-41D1-8047-51A5A6DAD655}" presName="sibTrans" presStyleCnt="0"/>
      <dgm:spPr/>
    </dgm:pt>
    <dgm:pt modelId="{578755EE-FA58-4CD6-A8F7-09351509D675}" type="pres">
      <dgm:prSet presAssocID="{279014DD-19FB-4B5F-89D7-52F1CF462355}" presName="compNode" presStyleCnt="0"/>
      <dgm:spPr/>
    </dgm:pt>
    <dgm:pt modelId="{61F45ED0-C222-494E-B2D5-DA2B6608E010}" type="pres">
      <dgm:prSet presAssocID="{279014DD-19FB-4B5F-89D7-52F1CF462355}" presName="bgRect" presStyleLbl="bgShp" presStyleIdx="3" presStyleCnt="4"/>
      <dgm:spPr>
        <a:solidFill>
          <a:srgbClr val="FFC100"/>
        </a:solidFill>
      </dgm:spPr>
    </dgm:pt>
    <dgm:pt modelId="{C2D07181-A6AB-48CA-B7F3-733B730C413E}" type="pres">
      <dgm:prSet presAssocID="{279014DD-19FB-4B5F-89D7-52F1CF46235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dgm:spPr>
      <dgm:extLst>
        <a:ext uri="{E40237B7-FDA0-4F09-8148-C483321AD2D9}">
          <dgm14:cNvPr xmlns:dgm14="http://schemas.microsoft.com/office/drawing/2010/diagram" id="0" name="" descr="Needle"/>
        </a:ext>
      </dgm:extLst>
    </dgm:pt>
    <dgm:pt modelId="{D4980350-A12B-4797-BD75-5389C880E55E}" type="pres">
      <dgm:prSet presAssocID="{279014DD-19FB-4B5F-89D7-52F1CF462355}" presName="spaceRect" presStyleCnt="0"/>
      <dgm:spPr/>
    </dgm:pt>
    <dgm:pt modelId="{2F1BC2AB-5F20-40BA-8005-1B95F5444474}" type="pres">
      <dgm:prSet presAssocID="{279014DD-19FB-4B5F-89D7-52F1CF462355}" presName="parTx" presStyleLbl="revTx" presStyleIdx="3" presStyleCnt="4">
        <dgm:presLayoutVars>
          <dgm:chMax val="0"/>
          <dgm:chPref val="0"/>
        </dgm:presLayoutVars>
      </dgm:prSet>
      <dgm:spPr/>
    </dgm:pt>
  </dgm:ptLst>
  <dgm:cxnLst>
    <dgm:cxn modelId="{CF0E6A0E-9CB0-4596-9FCE-7EA0CA107D97}" type="presOf" srcId="{7F76F600-F6DA-4B3F-985A-CF93340B870F}" destId="{A41AB0FA-CB04-4B42-B005-F414231B6752}" srcOrd="0" destOrd="0" presId="urn:microsoft.com/office/officeart/2018/2/layout/IconVerticalSolidList"/>
    <dgm:cxn modelId="{EBCFFF1F-6AA7-4A8A-86EF-FA5319C56756}" type="presOf" srcId="{E6C60A3C-FC3F-41A9-A6E4-8FE545B06431}" destId="{B3A216D5-C066-432D-9713-661ADCE81327}" srcOrd="0" destOrd="0" presId="urn:microsoft.com/office/officeart/2018/2/layout/IconVerticalSolidList"/>
    <dgm:cxn modelId="{9C97B08D-EDA7-4A58-92E7-AD256F376D4B}" type="presOf" srcId="{7E603D16-6CA9-42EA-85FC-614F3A8D95CA}" destId="{DC083618-86BE-428D-8F0F-69995E1D693F}" srcOrd="0" destOrd="0" presId="urn:microsoft.com/office/officeart/2018/2/layout/IconVerticalSolidList"/>
    <dgm:cxn modelId="{B61C369C-1F76-4E6E-9F24-ED798EA510AB}" srcId="{7F76F600-F6DA-4B3F-985A-CF93340B870F}" destId="{E6C60A3C-FC3F-41A9-A6E4-8FE545B06431}" srcOrd="0" destOrd="0" parTransId="{398F797F-43C0-4639-850D-89C7DF2F58BA}" sibTransId="{B2AE20F5-0329-46E0-9381-8745DBB1FB3E}"/>
    <dgm:cxn modelId="{5863DAA0-8726-4965-A6A2-498301DDEC27}" type="presOf" srcId="{08078AEC-FE49-4DA4-BD71-1C26CB2544FC}" destId="{0888C308-0316-43E6-B040-35C413751DEE}" srcOrd="0" destOrd="0" presId="urn:microsoft.com/office/officeart/2018/2/layout/IconVerticalSolidList"/>
    <dgm:cxn modelId="{DAABA5B6-3D09-46F1-AD40-8423DCAEA810}" srcId="{7F76F600-F6DA-4B3F-985A-CF93340B870F}" destId="{279014DD-19FB-4B5F-89D7-52F1CF462355}" srcOrd="3" destOrd="0" parTransId="{8F3360EE-BEFC-454A-915D-1991CD0D7466}" sibTransId="{8BD4AA00-17D2-4CBD-8C4D-2ED240A5F768}"/>
    <dgm:cxn modelId="{708A61CE-3DC9-465E-9D62-78790018F866}" srcId="{7F76F600-F6DA-4B3F-985A-CF93340B870F}" destId="{7E603D16-6CA9-42EA-85FC-614F3A8D95CA}" srcOrd="2" destOrd="0" parTransId="{84679C93-D57E-4A90-833E-69F543C89741}" sibTransId="{C64A360F-3136-41D1-8047-51A5A6DAD655}"/>
    <dgm:cxn modelId="{4CB516D0-E026-4B7E-8F4E-14E0C0DB6CE8}" srcId="{7F76F600-F6DA-4B3F-985A-CF93340B870F}" destId="{08078AEC-FE49-4DA4-BD71-1C26CB2544FC}" srcOrd="1" destOrd="0" parTransId="{90F9EE8E-40E5-45B1-A995-ED8D5391CA55}" sibTransId="{927A6407-2B4B-4A24-B196-637174FCFCF4}"/>
    <dgm:cxn modelId="{208858E8-30FF-43E5-9365-7CD7159AE355}" type="presOf" srcId="{279014DD-19FB-4B5F-89D7-52F1CF462355}" destId="{2F1BC2AB-5F20-40BA-8005-1B95F5444474}" srcOrd="0" destOrd="0" presId="urn:microsoft.com/office/officeart/2018/2/layout/IconVerticalSolidList"/>
    <dgm:cxn modelId="{F70CF9E9-306C-4325-A8B8-C9BB6F183637}" type="presParOf" srcId="{A41AB0FA-CB04-4B42-B005-F414231B6752}" destId="{86F954E4-67A1-4E87-87DA-E610318B5A1E}" srcOrd="0" destOrd="0" presId="urn:microsoft.com/office/officeart/2018/2/layout/IconVerticalSolidList"/>
    <dgm:cxn modelId="{E1288345-6A2A-421E-ADF2-3A59A32C8A1F}" type="presParOf" srcId="{86F954E4-67A1-4E87-87DA-E610318B5A1E}" destId="{729FCFAE-3FC3-4BB0-82B6-7CB6A2C425A4}" srcOrd="0" destOrd="0" presId="urn:microsoft.com/office/officeart/2018/2/layout/IconVerticalSolidList"/>
    <dgm:cxn modelId="{B24BF22C-2407-4C64-B740-17A36C527E1E}" type="presParOf" srcId="{86F954E4-67A1-4E87-87DA-E610318B5A1E}" destId="{DBEE57B4-9412-4BDE-A81A-37E0B91C387D}" srcOrd="1" destOrd="0" presId="urn:microsoft.com/office/officeart/2018/2/layout/IconVerticalSolidList"/>
    <dgm:cxn modelId="{8F67D97D-5274-4F2A-BD05-925D0D2D9372}" type="presParOf" srcId="{86F954E4-67A1-4E87-87DA-E610318B5A1E}" destId="{A2B515E8-29C7-4AB6-B333-1625DB08187A}" srcOrd="2" destOrd="0" presId="urn:microsoft.com/office/officeart/2018/2/layout/IconVerticalSolidList"/>
    <dgm:cxn modelId="{238889B3-A377-47C7-9094-2B47D1154CBF}" type="presParOf" srcId="{86F954E4-67A1-4E87-87DA-E610318B5A1E}" destId="{B3A216D5-C066-432D-9713-661ADCE81327}" srcOrd="3" destOrd="0" presId="urn:microsoft.com/office/officeart/2018/2/layout/IconVerticalSolidList"/>
    <dgm:cxn modelId="{34262BFA-76D0-4773-B2CF-41BB940A896A}" type="presParOf" srcId="{A41AB0FA-CB04-4B42-B005-F414231B6752}" destId="{9EDCAEE7-9058-4836-81B7-AC2437D275D5}" srcOrd="1" destOrd="0" presId="urn:microsoft.com/office/officeart/2018/2/layout/IconVerticalSolidList"/>
    <dgm:cxn modelId="{4C1549CE-83A7-4770-BC10-4DCB0CF60DEF}" type="presParOf" srcId="{A41AB0FA-CB04-4B42-B005-F414231B6752}" destId="{21981634-1D1B-42AC-BE38-DEAEFB0242B5}" srcOrd="2" destOrd="0" presId="urn:microsoft.com/office/officeart/2018/2/layout/IconVerticalSolidList"/>
    <dgm:cxn modelId="{144D1B7C-F235-4318-B244-9CAA98F91387}" type="presParOf" srcId="{21981634-1D1B-42AC-BE38-DEAEFB0242B5}" destId="{E9B214C3-825A-40C5-90A7-6625BE54A290}" srcOrd="0" destOrd="0" presId="urn:microsoft.com/office/officeart/2018/2/layout/IconVerticalSolidList"/>
    <dgm:cxn modelId="{8D058E0F-CD96-45E7-B5CA-6FB83D255DD2}" type="presParOf" srcId="{21981634-1D1B-42AC-BE38-DEAEFB0242B5}" destId="{7084DB98-9D46-43E9-8408-52638FD639A4}" srcOrd="1" destOrd="0" presId="urn:microsoft.com/office/officeart/2018/2/layout/IconVerticalSolidList"/>
    <dgm:cxn modelId="{7F8C8938-0527-4AC7-9E9C-8ACA3CC1053C}" type="presParOf" srcId="{21981634-1D1B-42AC-BE38-DEAEFB0242B5}" destId="{2F5A3626-2166-4E36-898D-9F63CED44A69}" srcOrd="2" destOrd="0" presId="urn:microsoft.com/office/officeart/2018/2/layout/IconVerticalSolidList"/>
    <dgm:cxn modelId="{5A40F101-178E-4FC2-87CE-984415556B8A}" type="presParOf" srcId="{21981634-1D1B-42AC-BE38-DEAEFB0242B5}" destId="{0888C308-0316-43E6-B040-35C413751DEE}" srcOrd="3" destOrd="0" presId="urn:microsoft.com/office/officeart/2018/2/layout/IconVerticalSolidList"/>
    <dgm:cxn modelId="{F11B2D35-891D-4913-9077-9B50DDE503E1}" type="presParOf" srcId="{A41AB0FA-CB04-4B42-B005-F414231B6752}" destId="{DD598A55-27C5-42DF-828B-69ED9AC1B427}" srcOrd="3" destOrd="0" presId="urn:microsoft.com/office/officeart/2018/2/layout/IconVerticalSolidList"/>
    <dgm:cxn modelId="{B140DAD5-A377-4E06-B757-C0EF13C5FFE7}" type="presParOf" srcId="{A41AB0FA-CB04-4B42-B005-F414231B6752}" destId="{C1383AE7-9ECA-4F3B-95A3-2F98A8504758}" srcOrd="4" destOrd="0" presId="urn:microsoft.com/office/officeart/2018/2/layout/IconVerticalSolidList"/>
    <dgm:cxn modelId="{02FC695A-A94B-4F65-A381-2F4E8DB27502}" type="presParOf" srcId="{C1383AE7-9ECA-4F3B-95A3-2F98A8504758}" destId="{BA61A4E9-BC06-407E-9201-C9DE4E39B3A5}" srcOrd="0" destOrd="0" presId="urn:microsoft.com/office/officeart/2018/2/layout/IconVerticalSolidList"/>
    <dgm:cxn modelId="{BEAAA315-1300-4F4E-BED7-BAF363D5DEC8}" type="presParOf" srcId="{C1383AE7-9ECA-4F3B-95A3-2F98A8504758}" destId="{4C0C735C-2788-4CE6-95B1-6CBF46BD4E82}" srcOrd="1" destOrd="0" presId="urn:microsoft.com/office/officeart/2018/2/layout/IconVerticalSolidList"/>
    <dgm:cxn modelId="{53E05595-2165-41B3-864C-7D955344BF91}" type="presParOf" srcId="{C1383AE7-9ECA-4F3B-95A3-2F98A8504758}" destId="{6EC96BA7-EFAC-4215-9EBC-011ABE6F512E}" srcOrd="2" destOrd="0" presId="urn:microsoft.com/office/officeart/2018/2/layout/IconVerticalSolidList"/>
    <dgm:cxn modelId="{5EAA7DE7-379F-425F-A79A-47C082964058}" type="presParOf" srcId="{C1383AE7-9ECA-4F3B-95A3-2F98A8504758}" destId="{DC083618-86BE-428D-8F0F-69995E1D693F}" srcOrd="3" destOrd="0" presId="urn:microsoft.com/office/officeart/2018/2/layout/IconVerticalSolidList"/>
    <dgm:cxn modelId="{AA3FEE02-2ACD-4A69-B0D1-954A89320CC5}" type="presParOf" srcId="{A41AB0FA-CB04-4B42-B005-F414231B6752}" destId="{35387C70-8737-434E-A42B-3D64B17373F6}" srcOrd="5" destOrd="0" presId="urn:microsoft.com/office/officeart/2018/2/layout/IconVerticalSolidList"/>
    <dgm:cxn modelId="{73EAE79F-D704-4144-9763-22D183BE51AA}" type="presParOf" srcId="{A41AB0FA-CB04-4B42-B005-F414231B6752}" destId="{578755EE-FA58-4CD6-A8F7-09351509D675}" srcOrd="6" destOrd="0" presId="urn:microsoft.com/office/officeart/2018/2/layout/IconVerticalSolidList"/>
    <dgm:cxn modelId="{1FC4DF9F-C59A-45AE-8A8B-B1968AD47350}" type="presParOf" srcId="{578755EE-FA58-4CD6-A8F7-09351509D675}" destId="{61F45ED0-C222-494E-B2D5-DA2B6608E010}" srcOrd="0" destOrd="0" presId="urn:microsoft.com/office/officeart/2018/2/layout/IconVerticalSolidList"/>
    <dgm:cxn modelId="{AE379815-2EEA-4481-9E02-0ABE760408A3}" type="presParOf" srcId="{578755EE-FA58-4CD6-A8F7-09351509D675}" destId="{C2D07181-A6AB-48CA-B7F3-733B730C413E}" srcOrd="1" destOrd="0" presId="urn:microsoft.com/office/officeart/2018/2/layout/IconVerticalSolidList"/>
    <dgm:cxn modelId="{7C14D9E6-3660-4100-892F-81EDA7B1B1F7}" type="presParOf" srcId="{578755EE-FA58-4CD6-A8F7-09351509D675}" destId="{D4980350-A12B-4797-BD75-5389C880E55E}" srcOrd="2" destOrd="0" presId="urn:microsoft.com/office/officeart/2018/2/layout/IconVerticalSolidList"/>
    <dgm:cxn modelId="{2BDD31B2-BAB2-4CE4-B5D4-3B2321DF4031}" type="presParOf" srcId="{578755EE-FA58-4CD6-A8F7-09351509D675}" destId="{2F1BC2AB-5F20-40BA-8005-1B95F5444474}" srcOrd="3" destOrd="0" presId="urn:microsoft.com/office/officeart/2018/2/layout/IconVerticalSoli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10FC4AF-F3C1-4A03-AEB4-E02B40316539}">
      <dsp:nvSpPr>
        <dsp:cNvPr id="0" name=""/>
        <dsp:cNvSpPr/>
      </dsp:nvSpPr>
      <dsp:spPr>
        <a:xfrm>
          <a:off x="0" y="531"/>
          <a:ext cx="10515600" cy="1244702"/>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B2735591-8923-49CB-B98F-DF72D5D70D6B}">
      <dsp:nvSpPr>
        <dsp:cNvPr id="0" name=""/>
        <dsp:cNvSpPr/>
      </dsp:nvSpPr>
      <dsp:spPr>
        <a:xfrm>
          <a:off x="376522" y="280590"/>
          <a:ext cx="684586" cy="68458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D81E3891-0D3E-4DC9-AB95-3AFDE5F905B2}">
      <dsp:nvSpPr>
        <dsp:cNvPr id="0" name=""/>
        <dsp:cNvSpPr/>
      </dsp:nvSpPr>
      <dsp:spPr>
        <a:xfrm>
          <a:off x="1437631" y="531"/>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GB" sz="2300" b="1" kern="1200"/>
            <a:t>Project Overview:</a:t>
          </a:r>
          <a:r>
            <a:rPr lang="en-GB" sz="2300" kern="1200"/>
            <a:t> This project predicts the likelihood of individuals receiving seasonal flu and/or H1N1 vaccines using demographic, behavioural, and opinion-based survey data.</a:t>
          </a:r>
          <a:endParaRPr lang="en-US" sz="2300" kern="1200"/>
        </a:p>
      </dsp:txBody>
      <dsp:txXfrm>
        <a:off x="1437631" y="531"/>
        <a:ext cx="9077968" cy="1244702"/>
      </dsp:txXfrm>
    </dsp:sp>
    <dsp:sp modelId="{671BDBE3-564A-46C8-B794-44C2AE4F320D}">
      <dsp:nvSpPr>
        <dsp:cNvPr id="0" name=""/>
        <dsp:cNvSpPr/>
      </dsp:nvSpPr>
      <dsp:spPr>
        <a:xfrm>
          <a:off x="0" y="1556410"/>
          <a:ext cx="10515600" cy="1244702"/>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8B94B9B-3738-44C8-BA54-9DB1BB6AC8ED}">
      <dsp:nvSpPr>
        <dsp:cNvPr id="0" name=""/>
        <dsp:cNvSpPr/>
      </dsp:nvSpPr>
      <dsp:spPr>
        <a:xfrm>
          <a:off x="376522" y="1836468"/>
          <a:ext cx="684586" cy="68458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619F1A3F-C0DC-4392-B915-C9BD9DD2B5D0}">
      <dsp:nvSpPr>
        <dsp:cNvPr id="0" name=""/>
        <dsp:cNvSpPr/>
      </dsp:nvSpPr>
      <dsp:spPr>
        <a:xfrm>
          <a:off x="1437631" y="1556410"/>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GB" sz="2300" b="1" kern="1200"/>
            <a:t>Aim:</a:t>
          </a:r>
          <a:r>
            <a:rPr lang="en-GB" sz="2300" kern="1200"/>
            <a:t> Produce accurate predictions to guide targeted public health interventions and uncover key drivers of vaccine uptake.</a:t>
          </a:r>
          <a:endParaRPr lang="en-US" sz="2300" kern="1200"/>
        </a:p>
      </dsp:txBody>
      <dsp:txXfrm>
        <a:off x="1437631" y="1556410"/>
        <a:ext cx="9077968" cy="1244702"/>
      </dsp:txXfrm>
    </dsp:sp>
    <dsp:sp modelId="{469197E8-3D61-4679-853D-1E18D39B9FB5}">
      <dsp:nvSpPr>
        <dsp:cNvPr id="0" name=""/>
        <dsp:cNvSpPr/>
      </dsp:nvSpPr>
      <dsp:spPr>
        <a:xfrm>
          <a:off x="0" y="3112289"/>
          <a:ext cx="10515600" cy="1244702"/>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9B9DD38-B151-4AFE-A56E-3D0C6860E1F7}">
      <dsp:nvSpPr>
        <dsp:cNvPr id="0" name=""/>
        <dsp:cNvSpPr/>
      </dsp:nvSpPr>
      <dsp:spPr>
        <a:xfrm>
          <a:off x="376522" y="3392347"/>
          <a:ext cx="684586" cy="68458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46B98CB-FDF9-4069-B257-5AF62C32C3E2}">
      <dsp:nvSpPr>
        <dsp:cNvPr id="0" name=""/>
        <dsp:cNvSpPr/>
      </dsp:nvSpPr>
      <dsp:spPr>
        <a:xfrm>
          <a:off x="1437631" y="3112289"/>
          <a:ext cx="9077968" cy="1244702"/>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31731" tIns="131731" rIns="131731" bIns="131731" numCol="1" spcCol="1270" anchor="ctr" anchorCtr="0">
          <a:noAutofit/>
        </a:bodyPr>
        <a:lstStyle/>
        <a:p>
          <a:pPr marL="0" lvl="0" indent="0" algn="l" defTabSz="1022350">
            <a:lnSpc>
              <a:spcPct val="90000"/>
            </a:lnSpc>
            <a:spcBef>
              <a:spcPct val="0"/>
            </a:spcBef>
            <a:spcAft>
              <a:spcPct val="35000"/>
            </a:spcAft>
            <a:buNone/>
          </a:pPr>
          <a:r>
            <a:rPr lang="en-GB" sz="2300" b="1" kern="1200"/>
            <a:t>Stakeholders:</a:t>
          </a:r>
          <a:r>
            <a:rPr lang="en-GB" sz="2300" kern="1200"/>
            <a:t> Public Health Agencies, Healthcare Systems, and Government.</a:t>
          </a:r>
          <a:endParaRPr lang="en-US" sz="2300" kern="1200"/>
        </a:p>
      </dsp:txBody>
      <dsp:txXfrm>
        <a:off x="1437631" y="3112289"/>
        <a:ext cx="9077968" cy="124470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343EE2E-23CD-F944-9F61-685AA6DA142F}">
      <dsp:nvSpPr>
        <dsp:cNvPr id="0" name=""/>
        <dsp:cNvSpPr/>
      </dsp:nvSpPr>
      <dsp:spPr>
        <a:xfrm>
          <a:off x="0" y="44636"/>
          <a:ext cx="10515600" cy="137475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GB" sz="2500" b="1" kern="1200"/>
            <a:t>Public Health Challenge:</a:t>
          </a:r>
          <a:r>
            <a:rPr lang="en-GB" sz="2500" kern="1200"/>
            <a:t> Unvaccinated individuals pose a significant risk of large-scale flu outbreaks, straining healthcare systems and causing substantial socio-economic impact.</a:t>
          </a:r>
          <a:endParaRPr lang="en-US" sz="2500" kern="1200"/>
        </a:p>
      </dsp:txBody>
      <dsp:txXfrm>
        <a:off x="67110" y="111746"/>
        <a:ext cx="10381380" cy="1240530"/>
      </dsp:txXfrm>
    </dsp:sp>
    <dsp:sp modelId="{64BA9E6D-F839-CB4D-A4A2-BC5B5A885E12}">
      <dsp:nvSpPr>
        <dsp:cNvPr id="0" name=""/>
        <dsp:cNvSpPr/>
      </dsp:nvSpPr>
      <dsp:spPr>
        <a:xfrm>
          <a:off x="0" y="1491387"/>
          <a:ext cx="10515600" cy="1374750"/>
        </a:xfrm>
        <a:prstGeom prst="roundRect">
          <a:avLst/>
        </a:prstGeom>
        <a:solidFill>
          <a:schemeClr val="accent2">
            <a:hueOff val="-727682"/>
            <a:satOff val="-41964"/>
            <a:lumOff val="431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GB" sz="2500" b="1" kern="1200"/>
            <a:t>Need for Prediction:</a:t>
          </a:r>
          <a:r>
            <a:rPr lang="en-GB" sz="2500" kern="1200"/>
            <a:t> Accurate prediction of vaccine uptake allows public health agencies to identify at-risk populations and allocate resources more effectively and proactively. </a:t>
          </a:r>
          <a:endParaRPr lang="en-US" sz="2500" kern="1200"/>
        </a:p>
      </dsp:txBody>
      <dsp:txXfrm>
        <a:off x="67110" y="1558497"/>
        <a:ext cx="10381380" cy="1240530"/>
      </dsp:txXfrm>
    </dsp:sp>
    <dsp:sp modelId="{D3F7453C-74EA-2B4D-BC4F-BC92137F3881}">
      <dsp:nvSpPr>
        <dsp:cNvPr id="0" name=""/>
        <dsp:cNvSpPr/>
      </dsp:nvSpPr>
      <dsp:spPr>
        <a:xfrm>
          <a:off x="0" y="2938136"/>
          <a:ext cx="10515600" cy="137475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GB" sz="2500" b="1" kern="1200"/>
            <a:t>Stakeholder Value:</a:t>
          </a:r>
          <a:r>
            <a:rPr lang="en-GB" sz="2500" kern="1200"/>
            <a:t> Provides actionable insights for Public Health Agencies, Healthcare Systems, and Government bodies to enhance preventative care and public safety.</a:t>
          </a:r>
          <a:endParaRPr lang="en-US" sz="2500" kern="1200"/>
        </a:p>
      </dsp:txBody>
      <dsp:txXfrm>
        <a:off x="67110" y="3005246"/>
        <a:ext cx="10381380" cy="1240530"/>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B2D99EA-2110-C64C-8EBE-C947159D5992}">
      <dsp:nvSpPr>
        <dsp:cNvPr id="0" name=""/>
        <dsp:cNvSpPr/>
      </dsp:nvSpPr>
      <dsp:spPr>
        <a:xfrm>
          <a:off x="3286" y="14823"/>
          <a:ext cx="3203971" cy="806400"/>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kern="1200" dirty="0"/>
            <a:t>Analysis</a:t>
          </a:r>
        </a:p>
      </dsp:txBody>
      <dsp:txXfrm>
        <a:off x="3286" y="14823"/>
        <a:ext cx="3203971" cy="806400"/>
      </dsp:txXfrm>
    </dsp:sp>
    <dsp:sp modelId="{3B94E3A9-2F36-6D4F-8F5D-D1FBDF2FD150}">
      <dsp:nvSpPr>
        <dsp:cNvPr id="0" name=""/>
        <dsp:cNvSpPr/>
      </dsp:nvSpPr>
      <dsp:spPr>
        <a:xfrm>
          <a:off x="3286" y="821223"/>
          <a:ext cx="3203971" cy="3112829"/>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Identify the most significant features influencing H1N1 and seasonal flu vaccine uptake.</a:t>
          </a:r>
        </a:p>
      </dsp:txBody>
      <dsp:txXfrm>
        <a:off x="3286" y="821223"/>
        <a:ext cx="3203971" cy="3112829"/>
      </dsp:txXfrm>
    </dsp:sp>
    <dsp:sp modelId="{17BA4CF7-F6B1-FE4A-BCB2-B7738C6137E2}">
      <dsp:nvSpPr>
        <dsp:cNvPr id="0" name=""/>
        <dsp:cNvSpPr/>
      </dsp:nvSpPr>
      <dsp:spPr>
        <a:xfrm>
          <a:off x="3655814" y="14823"/>
          <a:ext cx="3203971" cy="806400"/>
        </a:xfrm>
        <a:prstGeom prst="rect">
          <a:avLst/>
        </a:prstGeom>
        <a:solidFill>
          <a:schemeClr val="accent2">
            <a:hueOff val="-727682"/>
            <a:satOff val="-41964"/>
            <a:lumOff val="4314"/>
            <a:alphaOff val="0"/>
          </a:schemeClr>
        </a:solidFill>
        <a:ln w="12700" cap="flat" cmpd="sng" algn="ctr">
          <a:solidFill>
            <a:schemeClr val="accent2">
              <a:hueOff val="-727682"/>
              <a:satOff val="-41964"/>
              <a:lumOff val="431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kern="1200" dirty="0"/>
            <a:t>Modelling</a:t>
          </a:r>
        </a:p>
      </dsp:txBody>
      <dsp:txXfrm>
        <a:off x="3655814" y="14823"/>
        <a:ext cx="3203971" cy="806400"/>
      </dsp:txXfrm>
    </dsp:sp>
    <dsp:sp modelId="{1F9C5688-8162-7A43-82F3-D73084C24D84}">
      <dsp:nvSpPr>
        <dsp:cNvPr id="0" name=""/>
        <dsp:cNvSpPr/>
      </dsp:nvSpPr>
      <dsp:spPr>
        <a:xfrm>
          <a:off x="3655814" y="821223"/>
          <a:ext cx="3203971" cy="3112829"/>
        </a:xfrm>
        <a:prstGeom prst="rect">
          <a:avLst/>
        </a:prstGeom>
        <a:solidFill>
          <a:schemeClr val="accent2">
            <a:tint val="40000"/>
            <a:alpha val="90000"/>
            <a:hueOff val="-424613"/>
            <a:satOff val="-37673"/>
            <a:lumOff val="-385"/>
            <a:alphaOff val="0"/>
          </a:schemeClr>
        </a:solidFill>
        <a:ln w="12700" cap="flat" cmpd="sng" algn="ctr">
          <a:solidFill>
            <a:schemeClr val="accent2">
              <a:tint val="40000"/>
              <a:alpha val="90000"/>
              <a:hueOff val="-424613"/>
              <a:satOff val="-37673"/>
              <a:lumOff val="-38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Compare and fine-tune multiple classification algorithms for predicting vaccine uptake.</a:t>
          </a:r>
        </a:p>
      </dsp:txBody>
      <dsp:txXfrm>
        <a:off x="3655814" y="821223"/>
        <a:ext cx="3203971" cy="3112829"/>
      </dsp:txXfrm>
    </dsp:sp>
    <dsp:sp modelId="{75C2FB55-5DF6-8E49-840A-C79695773850}">
      <dsp:nvSpPr>
        <dsp:cNvPr id="0" name=""/>
        <dsp:cNvSpPr/>
      </dsp:nvSpPr>
      <dsp:spPr>
        <a:xfrm>
          <a:off x="7308342" y="14823"/>
          <a:ext cx="3203971" cy="806400"/>
        </a:xfrm>
        <a:prstGeom prst="rect">
          <a:avLst/>
        </a:prstGeom>
        <a:solidFill>
          <a:schemeClr val="accent2">
            <a:hueOff val="-1455363"/>
            <a:satOff val="-83928"/>
            <a:lumOff val="8628"/>
            <a:alphaOff val="0"/>
          </a:schemeClr>
        </a:solidFill>
        <a:ln w="12700" cap="flat" cmpd="sng" algn="ctr">
          <a:solidFill>
            <a:schemeClr val="accent2">
              <a:hueOff val="-1455363"/>
              <a:satOff val="-83928"/>
              <a:lumOff val="8628"/>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99136" tIns="113792" rIns="199136" bIns="113792" numCol="1" spcCol="1270" anchor="ctr" anchorCtr="0">
          <a:noAutofit/>
        </a:bodyPr>
        <a:lstStyle/>
        <a:p>
          <a:pPr marL="0" lvl="0" indent="0" algn="ctr" defTabSz="1244600">
            <a:lnSpc>
              <a:spcPct val="90000"/>
            </a:lnSpc>
            <a:spcBef>
              <a:spcPct val="0"/>
            </a:spcBef>
            <a:spcAft>
              <a:spcPct val="35000"/>
            </a:spcAft>
            <a:buNone/>
          </a:pPr>
          <a:r>
            <a:rPr lang="en-US" sz="2800" kern="1200" dirty="0"/>
            <a:t>Deployment</a:t>
          </a:r>
        </a:p>
      </dsp:txBody>
      <dsp:txXfrm>
        <a:off x="7308342" y="14823"/>
        <a:ext cx="3203971" cy="806400"/>
      </dsp:txXfrm>
    </dsp:sp>
    <dsp:sp modelId="{A800D37B-CD52-ED4B-AB79-B2F276D38174}">
      <dsp:nvSpPr>
        <dsp:cNvPr id="0" name=""/>
        <dsp:cNvSpPr/>
      </dsp:nvSpPr>
      <dsp:spPr>
        <a:xfrm>
          <a:off x="7308342" y="821223"/>
          <a:ext cx="3203971" cy="3112829"/>
        </a:xfrm>
        <a:prstGeom prst="rect">
          <a:avLst/>
        </a:prstGeom>
        <a:solidFill>
          <a:schemeClr val="accent2">
            <a:tint val="40000"/>
            <a:alpha val="90000"/>
            <a:hueOff val="-849226"/>
            <a:satOff val="-75346"/>
            <a:lumOff val="-769"/>
            <a:alphaOff val="0"/>
          </a:schemeClr>
        </a:solidFill>
        <a:ln w="12700" cap="flat" cmpd="sng" algn="ctr">
          <a:solidFill>
            <a:schemeClr val="accent2">
              <a:tint val="40000"/>
              <a:alpha val="90000"/>
              <a:hueOff val="-849226"/>
              <a:satOff val="-75346"/>
              <a:lumOff val="-769"/>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9352" tIns="149352" rIns="199136" bIns="224028" numCol="1" spcCol="1270" anchor="t" anchorCtr="0">
          <a:noAutofit/>
        </a:bodyPr>
        <a:lstStyle/>
        <a:p>
          <a:pPr marL="285750" lvl="1" indent="-285750" algn="l" defTabSz="1244600">
            <a:lnSpc>
              <a:spcPct val="90000"/>
            </a:lnSpc>
            <a:spcBef>
              <a:spcPct val="0"/>
            </a:spcBef>
            <a:spcAft>
              <a:spcPct val="15000"/>
            </a:spcAft>
            <a:buChar char="•"/>
          </a:pPr>
          <a:r>
            <a:rPr lang="en-US" sz="2800" kern="1200"/>
            <a:t>Develop a web-based application for predicting vaccination uptake based on individual characteristics.</a:t>
          </a:r>
        </a:p>
      </dsp:txBody>
      <dsp:txXfrm>
        <a:off x="7308342" y="821223"/>
        <a:ext cx="3203971" cy="3112829"/>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29FCFAE-3FC3-4BB0-82B6-7CB6A2C425A4}">
      <dsp:nvSpPr>
        <dsp:cNvPr id="0" name=""/>
        <dsp:cNvSpPr/>
      </dsp:nvSpPr>
      <dsp:spPr>
        <a:xfrm>
          <a:off x="0" y="1002"/>
          <a:ext cx="11245517" cy="508219"/>
        </a:xfrm>
        <a:prstGeom prst="roundRect">
          <a:avLst>
            <a:gd name="adj" fmla="val 10000"/>
          </a:avLst>
        </a:prstGeom>
        <a:solidFill>
          <a:srgbClr val="EC7E31"/>
        </a:solidFill>
        <a:ln>
          <a:noFill/>
        </a:ln>
        <a:effectLst/>
      </dsp:spPr>
      <dsp:style>
        <a:lnRef idx="0">
          <a:scrgbClr r="0" g="0" b="0"/>
        </a:lnRef>
        <a:fillRef idx="1">
          <a:scrgbClr r="0" g="0" b="0"/>
        </a:fillRef>
        <a:effectRef idx="0">
          <a:scrgbClr r="0" g="0" b="0"/>
        </a:effectRef>
        <a:fontRef idx="minor"/>
      </dsp:style>
    </dsp:sp>
    <dsp:sp modelId="{DBEE57B4-9412-4BDE-A81A-37E0B91C387D}">
      <dsp:nvSpPr>
        <dsp:cNvPr id="0" name=""/>
        <dsp:cNvSpPr/>
      </dsp:nvSpPr>
      <dsp:spPr>
        <a:xfrm>
          <a:off x="153736" y="115352"/>
          <a:ext cx="279520" cy="27952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B3A216D5-C066-432D-9713-661ADCE81327}">
      <dsp:nvSpPr>
        <dsp:cNvPr id="0" name=""/>
        <dsp:cNvSpPr/>
      </dsp:nvSpPr>
      <dsp:spPr>
        <a:xfrm>
          <a:off x="586993" y="1002"/>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a:solidFill>
                <a:schemeClr val="bg1"/>
              </a:solidFill>
            </a:rPr>
            <a:t>Source:</a:t>
          </a:r>
          <a:r>
            <a:rPr lang="en-GB" sz="2200" kern="1200">
              <a:solidFill>
                <a:schemeClr val="bg1"/>
              </a:solidFill>
            </a:rPr>
            <a:t> DrivenData Flu Shot Learning Challenge.</a:t>
          </a:r>
          <a:endParaRPr lang="en-US" sz="2200" kern="1200">
            <a:solidFill>
              <a:schemeClr val="bg1"/>
            </a:solidFill>
          </a:endParaRPr>
        </a:p>
      </dsp:txBody>
      <dsp:txXfrm>
        <a:off x="586993" y="1002"/>
        <a:ext cx="10658523" cy="508219"/>
      </dsp:txXfrm>
    </dsp:sp>
    <dsp:sp modelId="{E9B214C3-825A-40C5-90A7-6625BE54A290}">
      <dsp:nvSpPr>
        <dsp:cNvPr id="0" name=""/>
        <dsp:cNvSpPr/>
      </dsp:nvSpPr>
      <dsp:spPr>
        <a:xfrm>
          <a:off x="0" y="636276"/>
          <a:ext cx="11245517" cy="508219"/>
        </a:xfrm>
        <a:prstGeom prst="roundRect">
          <a:avLst>
            <a:gd name="adj" fmla="val 10000"/>
          </a:avLst>
        </a:prstGeom>
        <a:solidFill>
          <a:srgbClr val="C38171"/>
        </a:solidFill>
        <a:ln>
          <a:noFill/>
        </a:ln>
        <a:effectLst/>
      </dsp:spPr>
      <dsp:style>
        <a:lnRef idx="0">
          <a:scrgbClr r="0" g="0" b="0"/>
        </a:lnRef>
        <a:fillRef idx="1">
          <a:scrgbClr r="0" g="0" b="0"/>
        </a:fillRef>
        <a:effectRef idx="0">
          <a:scrgbClr r="0" g="0" b="0"/>
        </a:effectRef>
        <a:fontRef idx="minor"/>
      </dsp:style>
    </dsp:sp>
    <dsp:sp modelId="{7084DB98-9D46-43E9-8408-52638FD639A4}">
      <dsp:nvSpPr>
        <dsp:cNvPr id="0" name=""/>
        <dsp:cNvSpPr/>
      </dsp:nvSpPr>
      <dsp:spPr>
        <a:xfrm>
          <a:off x="153736" y="750625"/>
          <a:ext cx="279520" cy="27952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0888C308-0316-43E6-B040-35C413751DEE}">
      <dsp:nvSpPr>
        <dsp:cNvPr id="0" name=""/>
        <dsp:cNvSpPr/>
      </dsp:nvSpPr>
      <dsp:spPr>
        <a:xfrm>
          <a:off x="586993" y="636276"/>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a:solidFill>
                <a:schemeClr val="bg1"/>
              </a:solidFill>
            </a:rPr>
            <a:t>Size &amp; Format:</a:t>
          </a:r>
          <a:r>
            <a:rPr lang="en-GB" sz="2200" kern="1200">
              <a:solidFill>
                <a:schemeClr val="bg1"/>
              </a:solidFill>
            </a:rPr>
            <a:t> Approximately 26,000 entries in CSV format.</a:t>
          </a:r>
          <a:endParaRPr lang="en-US" sz="2200" kern="1200">
            <a:solidFill>
              <a:schemeClr val="bg1"/>
            </a:solidFill>
          </a:endParaRPr>
        </a:p>
      </dsp:txBody>
      <dsp:txXfrm>
        <a:off x="586993" y="636276"/>
        <a:ext cx="10658523" cy="508219"/>
      </dsp:txXfrm>
    </dsp:sp>
    <dsp:sp modelId="{BA61A4E9-BC06-407E-9201-C9DE4E39B3A5}">
      <dsp:nvSpPr>
        <dsp:cNvPr id="0" name=""/>
        <dsp:cNvSpPr/>
      </dsp:nvSpPr>
      <dsp:spPr>
        <a:xfrm>
          <a:off x="0" y="1271550"/>
          <a:ext cx="11245517" cy="508219"/>
        </a:xfrm>
        <a:prstGeom prst="roundRect">
          <a:avLst>
            <a:gd name="adj" fmla="val 10000"/>
          </a:avLst>
        </a:prstGeom>
        <a:solidFill>
          <a:srgbClr val="A6A5A4"/>
        </a:solidFill>
        <a:ln>
          <a:noFill/>
        </a:ln>
        <a:effectLst/>
      </dsp:spPr>
      <dsp:style>
        <a:lnRef idx="0">
          <a:scrgbClr r="0" g="0" b="0"/>
        </a:lnRef>
        <a:fillRef idx="1">
          <a:scrgbClr r="0" g="0" b="0"/>
        </a:fillRef>
        <a:effectRef idx="0">
          <a:scrgbClr r="0" g="0" b="0"/>
        </a:effectRef>
        <a:fontRef idx="minor"/>
      </dsp:style>
    </dsp:sp>
    <dsp:sp modelId="{4C0C735C-2788-4CE6-95B1-6CBF46BD4E82}">
      <dsp:nvSpPr>
        <dsp:cNvPr id="0" name=""/>
        <dsp:cNvSpPr/>
      </dsp:nvSpPr>
      <dsp:spPr>
        <a:xfrm>
          <a:off x="153736" y="1385899"/>
          <a:ext cx="279520" cy="27952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083618-86BE-428D-8F0F-69995E1D693F}">
      <dsp:nvSpPr>
        <dsp:cNvPr id="0" name=""/>
        <dsp:cNvSpPr/>
      </dsp:nvSpPr>
      <dsp:spPr>
        <a:xfrm>
          <a:off x="586993" y="1271550"/>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a:solidFill>
                <a:schemeClr val="bg1"/>
              </a:solidFill>
            </a:rPr>
            <a:t>Key Features:</a:t>
          </a:r>
          <a:r>
            <a:rPr lang="en-GB" sz="2200" kern="1200">
              <a:solidFill>
                <a:schemeClr val="bg1"/>
              </a:solidFill>
            </a:rPr>
            <a:t> Demographics, Health &amp; Access data, Beliefs and Behaviour.</a:t>
          </a:r>
          <a:endParaRPr lang="en-US" sz="2200" kern="1200">
            <a:solidFill>
              <a:schemeClr val="bg1"/>
            </a:solidFill>
          </a:endParaRPr>
        </a:p>
      </dsp:txBody>
      <dsp:txXfrm>
        <a:off x="586993" y="1271550"/>
        <a:ext cx="10658523" cy="508219"/>
      </dsp:txXfrm>
    </dsp:sp>
    <dsp:sp modelId="{61F45ED0-C222-494E-B2D5-DA2B6608E010}">
      <dsp:nvSpPr>
        <dsp:cNvPr id="0" name=""/>
        <dsp:cNvSpPr/>
      </dsp:nvSpPr>
      <dsp:spPr>
        <a:xfrm>
          <a:off x="0" y="1906824"/>
          <a:ext cx="11245517" cy="508219"/>
        </a:xfrm>
        <a:prstGeom prst="roundRect">
          <a:avLst>
            <a:gd name="adj" fmla="val 10000"/>
          </a:avLst>
        </a:prstGeom>
        <a:solidFill>
          <a:srgbClr val="FFC100"/>
        </a:solidFill>
        <a:ln>
          <a:noFill/>
        </a:ln>
        <a:effectLst/>
      </dsp:spPr>
      <dsp:style>
        <a:lnRef idx="0">
          <a:scrgbClr r="0" g="0" b="0"/>
        </a:lnRef>
        <a:fillRef idx="1">
          <a:scrgbClr r="0" g="0" b="0"/>
        </a:fillRef>
        <a:effectRef idx="0">
          <a:scrgbClr r="0" g="0" b="0"/>
        </a:effectRef>
        <a:fontRef idx="minor"/>
      </dsp:style>
    </dsp:sp>
    <dsp:sp modelId="{C2D07181-A6AB-48CA-B7F3-733B730C413E}">
      <dsp:nvSpPr>
        <dsp:cNvPr id="0" name=""/>
        <dsp:cNvSpPr/>
      </dsp:nvSpPr>
      <dsp:spPr>
        <a:xfrm>
          <a:off x="153736" y="2021173"/>
          <a:ext cx="279520" cy="27952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F1BC2AB-5F20-40BA-8005-1B95F5444474}">
      <dsp:nvSpPr>
        <dsp:cNvPr id="0" name=""/>
        <dsp:cNvSpPr/>
      </dsp:nvSpPr>
      <dsp:spPr>
        <a:xfrm>
          <a:off x="586993" y="1906824"/>
          <a:ext cx="10658523" cy="508219"/>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53787" tIns="53787" rIns="53787" bIns="53787" numCol="1" spcCol="1270" anchor="ctr" anchorCtr="0">
          <a:noAutofit/>
        </a:bodyPr>
        <a:lstStyle/>
        <a:p>
          <a:pPr marL="0" lvl="0" indent="0" algn="l" defTabSz="977900">
            <a:lnSpc>
              <a:spcPct val="100000"/>
            </a:lnSpc>
            <a:spcBef>
              <a:spcPct val="0"/>
            </a:spcBef>
            <a:spcAft>
              <a:spcPct val="35000"/>
            </a:spcAft>
            <a:buNone/>
          </a:pPr>
          <a:r>
            <a:rPr lang="en-GB" sz="2200" b="1" kern="1200" dirty="0">
              <a:solidFill>
                <a:schemeClr val="bg1"/>
              </a:solidFill>
            </a:rPr>
            <a:t>Target Variables:</a:t>
          </a:r>
          <a:r>
            <a:rPr lang="en-GB" sz="2200" kern="1200" dirty="0">
              <a:solidFill>
                <a:schemeClr val="bg1"/>
              </a:solidFill>
            </a:rPr>
            <a:t> h1n1 vaccine and seasonal vaccine (binary: 1 for vaccinated, 0 for not).</a:t>
          </a:r>
          <a:endParaRPr lang="en-US" sz="2200" kern="1200" dirty="0">
            <a:solidFill>
              <a:schemeClr val="bg1"/>
            </a:solidFill>
          </a:endParaRPr>
        </a:p>
      </dsp:txBody>
      <dsp:txXfrm>
        <a:off x="586993" y="1906824"/>
        <a:ext cx="10658523" cy="508219"/>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hList1">
  <dgm:title val=""/>
  <dgm:desc val=""/>
  <dgm:catLst>
    <dgm:cat type="list" pri="5000"/>
    <dgm:cat type="convert" pri="5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0.8"/>
      <dgm:constr type="h" for="des" forName="desTx" refType="primFontSz" refFor="des" refForName="parTx" fact="1.22"/>
      <dgm:constr type="w" for="ch" forName="space" refType="w" refFor="ch" refForName="composite" op="equ" fact="0.14"/>
    </dgm:constrLst>
    <dgm:ruleLst>
      <dgm:rule type="w" for="ch" forName="composite" val="0" fact="NaN" max="NaN"/>
      <dgm:rule type="primFontSz" for="des" forName="parTx" val="5" fact="NaN" max="NaN"/>
    </dgm:ruleLst>
    <dgm:forEach name="Name4" axis="ch" ptType="node">
      <dgm:layoutNode name="composite">
        <dgm:alg type="composite"/>
        <dgm:shape xmlns:r="http://schemas.openxmlformats.org/officeDocument/2006/relationships" r:blip="">
          <dgm:adjLst/>
        </dgm:shape>
        <dgm:presOf/>
        <dgm:constrLst>
          <dgm:constr type="l" for="ch" forName="parTx"/>
          <dgm:constr type="w" for="ch" forName="parTx" refType="w"/>
          <dgm:constr type="t" for="ch" forName="parTx"/>
          <dgm:constr type="l" for="ch" forName="desTx"/>
          <dgm:constr type="w" for="ch" forName="desTx" refType="w" refFor="ch" refForName="parTx"/>
          <dgm:constr type="t" for="ch" forName="desTx" refType="h" refFor="ch" refForName="parTx"/>
        </dgm:constrLst>
        <dgm:ruleLst>
          <dgm:rule type="h" val="INF" fact="NaN" max="NaN"/>
        </dgm:ruleLst>
        <dgm:layoutNode name="parTx" styleLbl="alignNode1">
          <dgm:varLst>
            <dgm:chMax val="0"/>
            <dgm:chPref val="0"/>
            <dgm:bulletEnabled val="1"/>
          </dgm:varLst>
          <dgm:alg type="tx"/>
          <dgm:shape xmlns:r="http://schemas.openxmlformats.org/officeDocument/2006/relationships" type="rect" r:blip="">
            <dgm:adjLst/>
          </dgm:shape>
          <dgm:presOf axis="self" ptType="node"/>
          <dgm:constrLst>
            <dgm:constr type="h" refType="w" op="lte" fact="0.4"/>
            <dgm:constr type="h"/>
            <dgm:constr type="tMarg" refType="primFontSz" fact="0.32"/>
            <dgm:constr type="bMarg" refType="primFontSz" fact="0.32"/>
          </dgm:constrLst>
          <dgm:ruleLst>
            <dgm:rule type="h" val="INF" fact="NaN" max="NaN"/>
          </dgm:ruleLst>
        </dgm:layoutNode>
        <dgm:layoutNode name="desTx" styleLbl="alignAccFollowNode1">
          <dgm:varLst>
            <dgm:bulletEnabled val="1"/>
          </dgm:varLst>
          <dgm:alg type="tx">
            <dgm:param type="stBulletLvl" val="1"/>
          </dgm:alg>
          <dgm:shape xmlns:r="http://schemas.openxmlformats.org/officeDocument/2006/relationships" type="rect" r:blip="">
            <dgm:adjLst/>
          </dgm:shape>
          <dgm:presOf axis="des" ptType="node"/>
          <dgm:constrLst>
            <dgm:constr type="secFontSz" val="65"/>
            <dgm:constr type="primFontSz" refType="secFontSz"/>
            <dgm:constr type="h"/>
            <dgm:constr type="lMarg" refType="primFontSz" fact="0.42"/>
            <dgm:constr type="tMarg" refType="primFontSz" fact="0.42"/>
            <dgm:constr type="bMarg" refType="primFontSz" fact="0.63"/>
          </dgm:constrLst>
          <dgm:ruleLst>
            <dgm:rule type="h" val="INF" fact="NaN" max="NaN"/>
          </dgm:ruleLst>
        </dgm:layoutNode>
      </dgm:layoutNode>
      <dgm:forEach name="Name5" axis="followSib" ptType="sibTrans" cnt="1">
        <dgm:layoutNode name="space">
          <dgm:alg type="sp"/>
          <dgm:shape xmlns:r="http://schemas.openxmlformats.org/officeDocument/2006/relationships" r:blip="">
            <dgm:adjLst/>
          </dgm:shape>
          <dgm:presOf/>
          <dgm:constrLst/>
          <dgm:ruleLst/>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22288-382B-43EA-815F-C9EC17BB8BC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05AA7A8-6FD6-4C8F-9604-28CD83685F9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8C0E49A-FACF-4DC8-AD1D-8A15FC8B70F4}"/>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A5CAFF63-A6FB-4479-B336-8B9E5FB6BC0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FB38FD-88C3-4DCF-9211-D00DE2D4CFC5}"/>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1518234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2D4753-02AB-4A8E-BC94-56B80647F3A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A5C816-C561-454A-AB20-039E2B138EF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170D600-3FFD-40C3-862D-E1AEE9DDE2B2}"/>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D568F10C-36D0-4DE2-8A0A-0C064BEB97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FD6B62F-B9A0-45E8-97C0-BD8C54481BC1}"/>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114354709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74BFE-7C46-44EB-9199-D9B590B355B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81E139C-7798-4F7A-9086-31A185CB256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159D80A-9E72-4D50-A618-5509D72271B8}"/>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51699370-D6DC-495D-A0D6-1C6A873E593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38DDF8-DDD1-4DB8-BCDE-77E0FBA20A2E}"/>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22578148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AC076F-511E-44E6-94E6-7F63C5E9963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42D68CA-A492-4E84-9F25-4C97CED5934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481C72F-7885-4187-B8F0-E780072AEFF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30BF42A-2051-4C33-9EE7-0CAAA7335835}"/>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6" name="Footer Placeholder 5">
            <a:extLst>
              <a:ext uri="{FF2B5EF4-FFF2-40B4-BE49-F238E27FC236}">
                <a16:creationId xmlns:a16="http://schemas.microsoft.com/office/drawing/2014/main" id="{56264D15-D418-4401-9FDF-B338C086E2C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02605BA-AB8A-41B1-A36E-61C83D3EF7DE}"/>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8880453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9B00B-69D9-436D-92EB-C6BA63A9DDBA}"/>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CBC12CBE-D27A-4999-9F63-D0E66D2B6EA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B45E831-F7F6-4B66-AC58-A9CA85C6AF51}"/>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D5DA56F-5368-447A-88FD-644F7AB76D0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E3AF7D-24D5-49CB-A0FC-8C5222BFBE9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206E7C5-7CA6-49D2-8BC5-0CB302031A49}"/>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8" name="Footer Placeholder 7">
            <a:extLst>
              <a:ext uri="{FF2B5EF4-FFF2-40B4-BE49-F238E27FC236}">
                <a16:creationId xmlns:a16="http://schemas.microsoft.com/office/drawing/2014/main" id="{05A36A44-FB2D-456E-BA68-E46C2E282DD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4AA620BB-8F37-4E47-8A70-6302DC0D7E7A}"/>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1972285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6B3939-EAFF-4D7A-89D5-A6B739711FD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2ED94DEE-068F-4060-A4CC-26EE084133FF}"/>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4" name="Footer Placeholder 3">
            <a:extLst>
              <a:ext uri="{FF2B5EF4-FFF2-40B4-BE49-F238E27FC236}">
                <a16:creationId xmlns:a16="http://schemas.microsoft.com/office/drawing/2014/main" id="{3A7978F8-77F2-481C-AEC3-2FF2CC07E6A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7C29081-E498-4FCF-B29D-CD4E87F4A7F0}"/>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8359392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01683E3-F9E5-495B-A5A6-8BB3A2C146E5}"/>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3" name="Footer Placeholder 2">
            <a:extLst>
              <a:ext uri="{FF2B5EF4-FFF2-40B4-BE49-F238E27FC236}">
                <a16:creationId xmlns:a16="http://schemas.microsoft.com/office/drawing/2014/main" id="{003CD0F8-42A0-4120-A576-6049D05A469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B6C5AD30-D602-4235-BC50-EC391A1472B5}"/>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2682111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E31322-B3BF-4852-9C6B-5DC208312DD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0CF372-34B4-44C4-8145-44613A8B52B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1660F21-CC66-45F7-B806-EC000E90788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F4813C-B880-44EC-AC07-6721CB1D56D1}"/>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6" name="Footer Placeholder 5">
            <a:extLst>
              <a:ext uri="{FF2B5EF4-FFF2-40B4-BE49-F238E27FC236}">
                <a16:creationId xmlns:a16="http://schemas.microsoft.com/office/drawing/2014/main" id="{13D86DBB-FCA3-4A1F-A3D1-7D5D2D39975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75165B6-65A3-4952-9ABB-09A6E4AC74C9}"/>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1231885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9787D6-BC07-4B38-A1F8-7FA437B0A76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2A7B116-D4CF-4CB8-AB6B-541BD676D0A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8113B3D-097E-4263-9725-3FBAB4A065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F6D651A-4D2E-4A0B-95F7-AE24C5F23BD4}"/>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6" name="Footer Placeholder 5">
            <a:extLst>
              <a:ext uri="{FF2B5EF4-FFF2-40B4-BE49-F238E27FC236}">
                <a16:creationId xmlns:a16="http://schemas.microsoft.com/office/drawing/2014/main" id="{DB427225-1139-4062-8141-77F8583782D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A4C0409-608C-4689-AA02-1FF57FBFA648}"/>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408994763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AE1FB-CE85-475F-9712-A6DC3F114B6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67D47A1-5F7F-471F-961A-CDEB2DEBE26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B33EBBD-4990-4F98-979E-0E1C7161E028}"/>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3F8C880D-004D-43F4-B159-C16C34E238A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184B6D3-A34D-488C-BAD6-E4A78799C911}"/>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21155080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FE07BE-F8EA-4F3B-83D2-8DB746B7EFB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715A1DF-4C18-4C93-9DE4-8E6C90A887C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8142A1-7CC4-4DE4-9E55-4F56D97A64B7}"/>
              </a:ext>
            </a:extLst>
          </p:cNvPr>
          <p:cNvSpPr>
            <a:spLocks noGrp="1"/>
          </p:cNvSpPr>
          <p:nvPr>
            <p:ph type="dt" sz="half" idx="10"/>
          </p:nvPr>
        </p:nvSpPr>
        <p:spPr/>
        <p:txBody>
          <a:body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AF1B5BC7-1992-4BA8-9EB9-89DFDCC7B0B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CB347D6-5BAD-452F-8596-9EE6D5903DF8}"/>
              </a:ext>
            </a:extLst>
          </p:cNvPr>
          <p:cNvSpPr>
            <a:spLocks noGrp="1"/>
          </p:cNvSpPr>
          <p:nvPr>
            <p:ph type="sldNum" sz="quarter" idx="12"/>
          </p:nvPr>
        </p:nvSpPr>
        <p:spPr/>
        <p:txBody>
          <a:bodyPr/>
          <a:lstStyle/>
          <a:p>
            <a:fld id="{956DA11D-4379-4402-A796-8C93841107E0}" type="slidenum">
              <a:rPr lang="en-US" smtClean="0"/>
              <a:t>‹#›</a:t>
            </a:fld>
            <a:endParaRPr lang="en-US"/>
          </a:p>
        </p:txBody>
      </p:sp>
    </p:spTree>
    <p:extLst>
      <p:ext uri="{BB962C8B-B14F-4D97-AF65-F5344CB8AC3E}">
        <p14:creationId xmlns:p14="http://schemas.microsoft.com/office/powerpoint/2010/main" val="34280788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6EFEBBA-0C7E-4E3A-AE13-6566DEF176E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3E6FB8E-E3D4-4A95-A7FD-17F4A362FED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677E641-55C3-4C85-BD62-71D812D30F8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F16FD6A-D46F-47F5-BC21-D3DBA29C789E}" type="datetimeFigureOut">
              <a:rPr lang="en-US" smtClean="0"/>
              <a:t>8/13/25</a:t>
            </a:fld>
            <a:endParaRPr lang="en-US"/>
          </a:p>
        </p:txBody>
      </p:sp>
      <p:sp>
        <p:nvSpPr>
          <p:cNvPr id="5" name="Footer Placeholder 4">
            <a:extLst>
              <a:ext uri="{FF2B5EF4-FFF2-40B4-BE49-F238E27FC236}">
                <a16:creationId xmlns:a16="http://schemas.microsoft.com/office/drawing/2014/main" id="{2155A37E-3018-4A89-8B37-134000C7872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A202883-9582-420D-BD27-0517071DF01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956DA11D-4379-4402-A796-8C93841107E0}" type="slidenum">
              <a:rPr lang="en-US" smtClean="0"/>
              <a:t>‹#›</a:t>
            </a:fld>
            <a:endParaRPr lang="en-US"/>
          </a:p>
        </p:txBody>
      </p:sp>
    </p:spTree>
    <p:extLst>
      <p:ext uri="{BB962C8B-B14F-4D97-AF65-F5344CB8AC3E}">
        <p14:creationId xmlns:p14="http://schemas.microsoft.com/office/powerpoint/2010/main" val="251928459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E91DC736-0EF8-4F87-9146-EBF1D2EE4D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B176D7CA-5069-4CBB-B0B8-4B331FB0A78A}"/>
              </a:ext>
            </a:extLst>
          </p:cNvPr>
          <p:cNvPicPr>
            <a:picLocks noChangeAspect="1"/>
          </p:cNvPicPr>
          <p:nvPr/>
        </p:nvPicPr>
        <p:blipFill>
          <a:blip r:embed="rId2">
            <a:extLst>
              <a:ext uri="{28A0092B-C50C-407E-A947-70E740481C1C}">
                <a14:useLocalDpi xmlns:a14="http://schemas.microsoft.com/office/drawing/2010/main" val="0"/>
              </a:ext>
            </a:extLst>
          </a:blip>
          <a:srcRect t="9065" r="22724" b="26"/>
          <a:stretch>
            <a:fillRect/>
          </a:stretch>
        </p:blipFill>
        <p:spPr>
          <a:xfrm>
            <a:off x="3523488" y="10"/>
            <a:ext cx="8668512" cy="6857990"/>
          </a:xfrm>
          <a:prstGeom prst="rect">
            <a:avLst/>
          </a:prstGeom>
        </p:spPr>
      </p:pic>
      <p:sp>
        <p:nvSpPr>
          <p:cNvPr id="20" name="Rectangle 19">
            <a:extLst>
              <a:ext uri="{FF2B5EF4-FFF2-40B4-BE49-F238E27FC236}">
                <a16:creationId xmlns:a16="http://schemas.microsoft.com/office/drawing/2014/main" id="{097CD68E-23E3-4007-8847-CD0944C4F7B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756601" cy="6858000"/>
          </a:xfrm>
          <a:prstGeom prst="rect">
            <a:avLst/>
          </a:prstGeom>
          <a:gradFill>
            <a:gsLst>
              <a:gs pos="58000">
                <a:schemeClr val="bg1"/>
              </a:gs>
              <a:gs pos="35000">
                <a:schemeClr val="bg1">
                  <a:alpha val="79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D95E3FCF-2ED7-4C9D-A613-2750E237E212}"/>
              </a:ext>
            </a:extLst>
          </p:cNvPr>
          <p:cNvSpPr>
            <a:spLocks noGrp="1"/>
          </p:cNvSpPr>
          <p:nvPr>
            <p:ph type="ctrTitle"/>
          </p:nvPr>
        </p:nvSpPr>
        <p:spPr>
          <a:xfrm>
            <a:off x="477981" y="1122363"/>
            <a:ext cx="4023360" cy="3204134"/>
          </a:xfrm>
        </p:spPr>
        <p:txBody>
          <a:bodyPr anchor="b">
            <a:normAutofit/>
          </a:bodyPr>
          <a:lstStyle/>
          <a:p>
            <a:pPr algn="l"/>
            <a:r>
              <a:rPr lang="en-US" sz="3000" b="1" i="0">
                <a:effectLst/>
                <a:latin typeface="Arial Black" panose="020B0A04020102020204" pitchFamily="34" charset="0"/>
              </a:rPr>
              <a:t>PREDICTING VACCINE UPTAKE FOR TARGETED PUBLIC HEALTH INTERVENTIONS</a:t>
            </a:r>
            <a:br>
              <a:rPr lang="en-US" sz="3000" b="1" i="0">
                <a:effectLst/>
                <a:latin typeface="Arial Black" panose="020B0A04020102020204" pitchFamily="34" charset="0"/>
              </a:rPr>
            </a:br>
            <a:endParaRPr lang="en-US" sz="3000">
              <a:latin typeface="Arial Black" panose="020B0A04020102020204" pitchFamily="34" charset="0"/>
            </a:endParaRPr>
          </a:p>
        </p:txBody>
      </p:sp>
      <p:sp>
        <p:nvSpPr>
          <p:cNvPr id="3" name="Subtitle 2">
            <a:extLst>
              <a:ext uri="{FF2B5EF4-FFF2-40B4-BE49-F238E27FC236}">
                <a16:creationId xmlns:a16="http://schemas.microsoft.com/office/drawing/2014/main" id="{09785192-4B41-4AB2-B618-17B09D4D1CCA}"/>
              </a:ext>
            </a:extLst>
          </p:cNvPr>
          <p:cNvSpPr>
            <a:spLocks noGrp="1"/>
          </p:cNvSpPr>
          <p:nvPr>
            <p:ph type="subTitle" idx="1"/>
          </p:nvPr>
        </p:nvSpPr>
        <p:spPr>
          <a:xfrm>
            <a:off x="477980" y="4872922"/>
            <a:ext cx="4023359" cy="1208141"/>
          </a:xfrm>
        </p:spPr>
        <p:txBody>
          <a:bodyPr>
            <a:normAutofit/>
          </a:bodyPr>
          <a:lstStyle/>
          <a:p>
            <a:pPr algn="l"/>
            <a:r>
              <a:rPr lang="en-US" sz="2000" dirty="0"/>
              <a:t>Jemimah Kuria, Faith </a:t>
            </a:r>
            <a:r>
              <a:rPr lang="en-US" sz="2000" dirty="0" err="1"/>
              <a:t>Githaiga</a:t>
            </a:r>
            <a:r>
              <a:rPr lang="en-US" sz="2000" dirty="0"/>
              <a:t>, George Nyang’aya and Derrick </a:t>
            </a:r>
            <a:r>
              <a:rPr lang="en-US" sz="2000" dirty="0" err="1"/>
              <a:t>Kiptoo</a:t>
            </a:r>
            <a:endParaRPr lang="en-US" sz="2000" dirty="0"/>
          </a:p>
        </p:txBody>
      </p:sp>
      <p:sp>
        <p:nvSpPr>
          <p:cNvPr id="22" name="Rectangle 21">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59921" y="346791"/>
            <a:ext cx="146304"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4" name="Rectangle 23">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1029" y="4546920"/>
            <a:ext cx="397764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276064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7B947C-D2DA-493E-86A6-ED821FA02E16}"/>
              </a:ext>
            </a:extLst>
          </p:cNvPr>
          <p:cNvSpPr>
            <a:spLocks noGrp="1"/>
          </p:cNvSpPr>
          <p:nvPr>
            <p:ph type="title"/>
          </p:nvPr>
        </p:nvSpPr>
        <p:spPr>
          <a:xfrm>
            <a:off x="841248" y="256032"/>
            <a:ext cx="10506456" cy="1014984"/>
          </a:xfrm>
        </p:spPr>
        <p:txBody>
          <a:bodyPr anchor="b">
            <a:normAutofit/>
          </a:bodyPr>
          <a:lstStyle/>
          <a:p>
            <a:r>
              <a:rPr lang="en-US" sz="3400" b="1">
                <a:latin typeface="Arial Black" panose="020B0A04020102020204" pitchFamily="34" charset="0"/>
              </a:rPr>
              <a:t> </a:t>
            </a:r>
            <a:r>
              <a:rPr lang="en-US" sz="3400">
                <a:latin typeface="Arial Black" panose="020B0A04020102020204" pitchFamily="34" charset="0"/>
              </a:rPr>
              <a:t>📌</a:t>
            </a:r>
            <a:r>
              <a:rPr lang="en-US" sz="3400" b="1">
                <a:latin typeface="Arial Black" panose="020B0A04020102020204" pitchFamily="34" charset="0"/>
              </a:rPr>
              <a:t>PROJECT OVERVIEW &amp; BACKGROUND</a:t>
            </a:r>
          </a:p>
        </p:txBody>
      </p:sp>
      <p:sp>
        <p:nvSpPr>
          <p:cNvPr id="11"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3"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5" name="Content Placeholder 2">
            <a:extLst>
              <a:ext uri="{FF2B5EF4-FFF2-40B4-BE49-F238E27FC236}">
                <a16:creationId xmlns:a16="http://schemas.microsoft.com/office/drawing/2014/main" id="{0A5D8029-A6DF-A77E-DC05-ADDA55ED7E6F}"/>
              </a:ext>
            </a:extLst>
          </p:cNvPr>
          <p:cNvGraphicFramePr>
            <a:graphicFrameLocks noGrp="1"/>
          </p:cNvGraphicFramePr>
          <p:nvPr>
            <p:ph idx="1"/>
            <p:extLst>
              <p:ext uri="{D42A27DB-BD31-4B8C-83A1-F6EECF244321}">
                <p14:modId xmlns:p14="http://schemas.microsoft.com/office/powerpoint/2010/main" val="1939235159"/>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006540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 name="Rectangle 8">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6B72E30-83F9-4EFC-95DD-69B3A2D74463}"/>
              </a:ext>
            </a:extLst>
          </p:cNvPr>
          <p:cNvSpPr>
            <a:spLocks noGrp="1"/>
          </p:cNvSpPr>
          <p:nvPr>
            <p:ph type="title"/>
          </p:nvPr>
        </p:nvSpPr>
        <p:spPr>
          <a:xfrm>
            <a:off x="841248" y="256032"/>
            <a:ext cx="10506456" cy="1014984"/>
          </a:xfrm>
        </p:spPr>
        <p:txBody>
          <a:bodyPr anchor="b">
            <a:normAutofit/>
          </a:bodyPr>
          <a:lstStyle/>
          <a:p>
            <a:r>
              <a:rPr lang="en-US">
                <a:latin typeface="Arial Black" panose="020B0A04020102020204" pitchFamily="34" charset="0"/>
              </a:rPr>
              <a:t>💼 </a:t>
            </a:r>
            <a:r>
              <a:rPr lang="en-US" b="1">
                <a:latin typeface="Arial Black" panose="020B0A04020102020204" pitchFamily="34" charset="0"/>
                <a:cs typeface="Times New Roman" panose="02020603050405020304" pitchFamily="18" charset="0"/>
              </a:rPr>
              <a:t>BUSINESS UNDERSTANDING</a:t>
            </a:r>
          </a:p>
        </p:txBody>
      </p:sp>
      <p:sp>
        <p:nvSpPr>
          <p:cNvPr id="16" name="Rectangle 10">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7" name="Rectangle 12">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8" name="Content Placeholder 2">
            <a:extLst>
              <a:ext uri="{FF2B5EF4-FFF2-40B4-BE49-F238E27FC236}">
                <a16:creationId xmlns:a16="http://schemas.microsoft.com/office/drawing/2014/main" id="{375966B3-2596-7294-23AE-F291B1CC37BD}"/>
              </a:ext>
            </a:extLst>
          </p:cNvPr>
          <p:cNvGraphicFramePr>
            <a:graphicFrameLocks noGrp="1"/>
          </p:cNvGraphicFramePr>
          <p:nvPr>
            <p:ph idx="1"/>
            <p:extLst>
              <p:ext uri="{D42A27DB-BD31-4B8C-83A1-F6EECF244321}">
                <p14:modId xmlns:p14="http://schemas.microsoft.com/office/powerpoint/2010/main" val="1066212702"/>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06112824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 name="Rectangle 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7" name="Rectangle 1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8" name="Rectangle 1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A8D2A77-D24A-47CE-9581-D7A8D3D246A7}"/>
              </a:ext>
            </a:extLst>
          </p:cNvPr>
          <p:cNvSpPr>
            <a:spLocks noGrp="1"/>
          </p:cNvSpPr>
          <p:nvPr>
            <p:ph type="title"/>
          </p:nvPr>
        </p:nvSpPr>
        <p:spPr>
          <a:xfrm>
            <a:off x="1115568" y="548640"/>
            <a:ext cx="10168128" cy="1179576"/>
          </a:xfrm>
        </p:spPr>
        <p:txBody>
          <a:bodyPr>
            <a:normAutofit/>
          </a:bodyPr>
          <a:lstStyle/>
          <a:p>
            <a:r>
              <a:rPr lang="en-US" sz="4000">
                <a:latin typeface="Arial Black" panose="020B0A04020102020204" pitchFamily="34" charset="0"/>
              </a:rPr>
              <a:t>❓</a:t>
            </a:r>
            <a:r>
              <a:rPr lang="en-US" sz="4000" b="1">
                <a:latin typeface="Arial Black" panose="020B0A04020102020204" pitchFamily="34" charset="0"/>
              </a:rPr>
              <a:t>PROBLEM STATEMENT</a:t>
            </a:r>
          </a:p>
        </p:txBody>
      </p:sp>
      <p:sp>
        <p:nvSpPr>
          <p:cNvPr id="15" name="Rectangle 1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Rectangle 1">
            <a:extLst>
              <a:ext uri="{FF2B5EF4-FFF2-40B4-BE49-F238E27FC236}">
                <a16:creationId xmlns:a16="http://schemas.microsoft.com/office/drawing/2014/main" id="{75F7B5FF-EC14-4789-A496-380DD1334790}"/>
              </a:ext>
            </a:extLst>
          </p:cNvPr>
          <p:cNvSpPr>
            <a:spLocks noGrp="1" noChangeArrowheads="1"/>
          </p:cNvSpPr>
          <p:nvPr>
            <p:ph idx="1"/>
          </p:nvPr>
        </p:nvSpPr>
        <p:spPr bwMode="auto">
          <a:xfrm>
            <a:off x="1115568" y="2481943"/>
            <a:ext cx="10168128" cy="369502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marL="0" lvl="0" indent="0" eaLnBrk="0" fontAlgn="base" hangingPunct="0">
              <a:spcBef>
                <a:spcPct val="0"/>
              </a:spcBef>
              <a:spcAft>
                <a:spcPts val="600"/>
              </a:spcAft>
              <a:buNone/>
            </a:pPr>
            <a:r>
              <a:rPr lang="en-GB" sz="2200"/>
              <a:t>Despite wide-scale flu awareness campaigns and vaccine availability, many individuals do not take the vaccine. This makes entire populations vulnerable to flu outbreaks and strains healthcare systems. During pandemics, such as H1N1, knowing which groups are hesitant or likely to opt out of vaccination can make or break a country’s response. This project aims to predict whether a person is likely to receive the H1N1 vaccine and/or the seasonal flu vaccine based on their survey responses, including their demographic details, health status, beliefs, and behavior. By identifying high-risk or hesitant groups, we can help direct resources like public health messaging, vaccine access, and education to the right places at the right time.</a:t>
            </a:r>
            <a:endParaRPr kumimoji="0" lang="en-US" altLang="en-US" sz="2200" b="0" i="0" u="none" strike="noStrike" cap="none" normalizeH="0" baseline="0">
              <a:ln>
                <a:noFill/>
              </a:ln>
              <a:effectLst/>
              <a:latin typeface="Arial" panose="020B0604020202020204" pitchFamily="34" charset="0"/>
            </a:endParaRPr>
          </a:p>
        </p:txBody>
      </p:sp>
    </p:spTree>
    <p:extLst>
      <p:ext uri="{BB962C8B-B14F-4D97-AF65-F5344CB8AC3E}">
        <p14:creationId xmlns:p14="http://schemas.microsoft.com/office/powerpoint/2010/main" val="2029497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35DB3719-6FDC-4E5D-891D-FF40B7300F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D9E8C7C6-3D06-4CED-AF51-6C2D7447241B}"/>
              </a:ext>
            </a:extLst>
          </p:cNvPr>
          <p:cNvSpPr>
            <a:spLocks noGrp="1"/>
          </p:cNvSpPr>
          <p:nvPr>
            <p:ph type="title"/>
          </p:nvPr>
        </p:nvSpPr>
        <p:spPr>
          <a:xfrm>
            <a:off x="838200" y="365125"/>
            <a:ext cx="10515600" cy="1325563"/>
          </a:xfrm>
        </p:spPr>
        <p:txBody>
          <a:bodyPr>
            <a:normAutofit/>
          </a:bodyPr>
          <a:lstStyle/>
          <a:p>
            <a:r>
              <a:rPr lang="en-US" sz="5400">
                <a:latin typeface="Arial Black" panose="020B0A04020102020204" pitchFamily="34" charset="0"/>
              </a:rPr>
              <a:t>🎯 </a:t>
            </a:r>
            <a:r>
              <a:rPr lang="en-US" sz="5400" b="1">
                <a:latin typeface="Arial Black" panose="020B0A04020102020204" pitchFamily="34" charset="0"/>
              </a:rPr>
              <a:t>OBJECTIVES</a:t>
            </a:r>
          </a:p>
        </p:txBody>
      </p:sp>
      <p:sp>
        <p:nvSpPr>
          <p:cNvPr id="23" name="sketch line">
            <a:extLst>
              <a:ext uri="{FF2B5EF4-FFF2-40B4-BE49-F238E27FC236}">
                <a16:creationId xmlns:a16="http://schemas.microsoft.com/office/drawing/2014/main" id="{E0CBAC23-2E3F-4A90-BA59-F8299F6A54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200" y="1865313"/>
            <a:ext cx="10424160" cy="18288"/>
          </a:xfrm>
          <a:custGeom>
            <a:avLst/>
            <a:gdLst>
              <a:gd name="connsiteX0" fmla="*/ 0 w 10424160"/>
              <a:gd name="connsiteY0" fmla="*/ 0 h 18288"/>
              <a:gd name="connsiteX1" fmla="*/ 903427 w 10424160"/>
              <a:gd name="connsiteY1" fmla="*/ 0 h 18288"/>
              <a:gd name="connsiteX2" fmla="*/ 1389888 w 10424160"/>
              <a:gd name="connsiteY2" fmla="*/ 0 h 18288"/>
              <a:gd name="connsiteX3" fmla="*/ 2189074 w 10424160"/>
              <a:gd name="connsiteY3" fmla="*/ 0 h 18288"/>
              <a:gd name="connsiteX4" fmla="*/ 2675534 w 10424160"/>
              <a:gd name="connsiteY4" fmla="*/ 0 h 18288"/>
              <a:gd name="connsiteX5" fmla="*/ 3370478 w 10424160"/>
              <a:gd name="connsiteY5" fmla="*/ 0 h 18288"/>
              <a:gd name="connsiteX6" fmla="*/ 4169664 w 10424160"/>
              <a:gd name="connsiteY6" fmla="*/ 0 h 18288"/>
              <a:gd name="connsiteX7" fmla="*/ 4551883 w 10424160"/>
              <a:gd name="connsiteY7" fmla="*/ 0 h 18288"/>
              <a:gd name="connsiteX8" fmla="*/ 4934102 w 10424160"/>
              <a:gd name="connsiteY8" fmla="*/ 0 h 18288"/>
              <a:gd name="connsiteX9" fmla="*/ 5837530 w 10424160"/>
              <a:gd name="connsiteY9" fmla="*/ 0 h 18288"/>
              <a:gd name="connsiteX10" fmla="*/ 6532474 w 10424160"/>
              <a:gd name="connsiteY10" fmla="*/ 0 h 18288"/>
              <a:gd name="connsiteX11" fmla="*/ 6914693 w 10424160"/>
              <a:gd name="connsiteY11" fmla="*/ 0 h 18288"/>
              <a:gd name="connsiteX12" fmla="*/ 7609637 w 10424160"/>
              <a:gd name="connsiteY12" fmla="*/ 0 h 18288"/>
              <a:gd name="connsiteX13" fmla="*/ 8513064 w 10424160"/>
              <a:gd name="connsiteY13" fmla="*/ 0 h 18288"/>
              <a:gd name="connsiteX14" fmla="*/ 9103766 w 10424160"/>
              <a:gd name="connsiteY14" fmla="*/ 0 h 18288"/>
              <a:gd name="connsiteX15" fmla="*/ 9694469 w 10424160"/>
              <a:gd name="connsiteY15" fmla="*/ 0 h 18288"/>
              <a:gd name="connsiteX16" fmla="*/ 10424160 w 10424160"/>
              <a:gd name="connsiteY16" fmla="*/ 0 h 18288"/>
              <a:gd name="connsiteX17" fmla="*/ 10424160 w 10424160"/>
              <a:gd name="connsiteY17" fmla="*/ 18288 h 18288"/>
              <a:gd name="connsiteX18" fmla="*/ 9729216 w 10424160"/>
              <a:gd name="connsiteY18" fmla="*/ 18288 h 18288"/>
              <a:gd name="connsiteX19" fmla="*/ 8930030 w 10424160"/>
              <a:gd name="connsiteY19" fmla="*/ 18288 h 18288"/>
              <a:gd name="connsiteX20" fmla="*/ 8130845 w 10424160"/>
              <a:gd name="connsiteY20" fmla="*/ 18288 h 18288"/>
              <a:gd name="connsiteX21" fmla="*/ 7644384 w 10424160"/>
              <a:gd name="connsiteY21" fmla="*/ 18288 h 18288"/>
              <a:gd name="connsiteX22" fmla="*/ 6740957 w 10424160"/>
              <a:gd name="connsiteY22" fmla="*/ 18288 h 18288"/>
              <a:gd name="connsiteX23" fmla="*/ 6046013 w 10424160"/>
              <a:gd name="connsiteY23" fmla="*/ 18288 h 18288"/>
              <a:gd name="connsiteX24" fmla="*/ 5663794 w 10424160"/>
              <a:gd name="connsiteY24" fmla="*/ 18288 h 18288"/>
              <a:gd name="connsiteX25" fmla="*/ 4968850 w 10424160"/>
              <a:gd name="connsiteY25" fmla="*/ 18288 h 18288"/>
              <a:gd name="connsiteX26" fmla="*/ 4378147 w 10424160"/>
              <a:gd name="connsiteY26" fmla="*/ 18288 h 18288"/>
              <a:gd name="connsiteX27" fmla="*/ 3787445 w 10424160"/>
              <a:gd name="connsiteY27" fmla="*/ 18288 h 18288"/>
              <a:gd name="connsiteX28" fmla="*/ 3196742 w 10424160"/>
              <a:gd name="connsiteY28" fmla="*/ 18288 h 18288"/>
              <a:gd name="connsiteX29" fmla="*/ 2606040 w 10424160"/>
              <a:gd name="connsiteY29" fmla="*/ 18288 h 18288"/>
              <a:gd name="connsiteX30" fmla="*/ 1806854 w 10424160"/>
              <a:gd name="connsiteY30" fmla="*/ 18288 h 18288"/>
              <a:gd name="connsiteX31" fmla="*/ 1111910 w 10424160"/>
              <a:gd name="connsiteY31" fmla="*/ 18288 h 18288"/>
              <a:gd name="connsiteX32" fmla="*/ 729691 w 10424160"/>
              <a:gd name="connsiteY32" fmla="*/ 18288 h 18288"/>
              <a:gd name="connsiteX33" fmla="*/ 0 w 10424160"/>
              <a:gd name="connsiteY33" fmla="*/ 18288 h 18288"/>
              <a:gd name="connsiteX34" fmla="*/ 0 w 10424160"/>
              <a:gd name="connsiteY34"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424160" h="18288" fill="none" extrusionOk="0">
                <a:moveTo>
                  <a:pt x="0" y="0"/>
                </a:moveTo>
                <a:cubicBezTo>
                  <a:pt x="251416" y="-3874"/>
                  <a:pt x="479411" y="-20508"/>
                  <a:pt x="903427" y="0"/>
                </a:cubicBezTo>
                <a:cubicBezTo>
                  <a:pt x="1327443" y="20508"/>
                  <a:pt x="1177990" y="-7387"/>
                  <a:pt x="1389888" y="0"/>
                </a:cubicBezTo>
                <a:cubicBezTo>
                  <a:pt x="1601786" y="7387"/>
                  <a:pt x="1928602" y="-6697"/>
                  <a:pt x="2189074" y="0"/>
                </a:cubicBezTo>
                <a:cubicBezTo>
                  <a:pt x="2449546" y="6697"/>
                  <a:pt x="2440085" y="-21144"/>
                  <a:pt x="2675534" y="0"/>
                </a:cubicBezTo>
                <a:cubicBezTo>
                  <a:pt x="2910983" y="21144"/>
                  <a:pt x="3026158" y="-11124"/>
                  <a:pt x="3370478" y="0"/>
                </a:cubicBezTo>
                <a:cubicBezTo>
                  <a:pt x="3714798" y="11124"/>
                  <a:pt x="3864539" y="-10660"/>
                  <a:pt x="4169664" y="0"/>
                </a:cubicBezTo>
                <a:cubicBezTo>
                  <a:pt x="4474789" y="10660"/>
                  <a:pt x="4471218" y="16488"/>
                  <a:pt x="4551883" y="0"/>
                </a:cubicBezTo>
                <a:cubicBezTo>
                  <a:pt x="4632548" y="-16488"/>
                  <a:pt x="4786830" y="7986"/>
                  <a:pt x="4934102" y="0"/>
                </a:cubicBezTo>
                <a:cubicBezTo>
                  <a:pt x="5081374" y="-7986"/>
                  <a:pt x="5575881" y="-33003"/>
                  <a:pt x="5837530" y="0"/>
                </a:cubicBezTo>
                <a:cubicBezTo>
                  <a:pt x="6099179" y="33003"/>
                  <a:pt x="6305895" y="14170"/>
                  <a:pt x="6532474" y="0"/>
                </a:cubicBezTo>
                <a:cubicBezTo>
                  <a:pt x="6759053" y="-14170"/>
                  <a:pt x="6726707" y="16121"/>
                  <a:pt x="6914693" y="0"/>
                </a:cubicBezTo>
                <a:cubicBezTo>
                  <a:pt x="7102679" y="-16121"/>
                  <a:pt x="7397857" y="32594"/>
                  <a:pt x="7609637" y="0"/>
                </a:cubicBezTo>
                <a:cubicBezTo>
                  <a:pt x="7821417" y="-32594"/>
                  <a:pt x="8141235" y="-3745"/>
                  <a:pt x="8513064" y="0"/>
                </a:cubicBezTo>
                <a:cubicBezTo>
                  <a:pt x="8884893" y="3745"/>
                  <a:pt x="8877548" y="3359"/>
                  <a:pt x="9103766" y="0"/>
                </a:cubicBezTo>
                <a:cubicBezTo>
                  <a:pt x="9329984" y="-3359"/>
                  <a:pt x="9545570" y="-17843"/>
                  <a:pt x="9694469" y="0"/>
                </a:cubicBezTo>
                <a:cubicBezTo>
                  <a:pt x="9843368" y="17843"/>
                  <a:pt x="10162477" y="-1217"/>
                  <a:pt x="10424160" y="0"/>
                </a:cubicBezTo>
                <a:cubicBezTo>
                  <a:pt x="10424498" y="7640"/>
                  <a:pt x="10423710" y="11289"/>
                  <a:pt x="10424160" y="18288"/>
                </a:cubicBezTo>
                <a:cubicBezTo>
                  <a:pt x="10184680" y="20716"/>
                  <a:pt x="10034768" y="-9357"/>
                  <a:pt x="9729216" y="18288"/>
                </a:cubicBezTo>
                <a:cubicBezTo>
                  <a:pt x="9423664" y="45933"/>
                  <a:pt x="9309220" y="36372"/>
                  <a:pt x="8930030" y="18288"/>
                </a:cubicBezTo>
                <a:cubicBezTo>
                  <a:pt x="8550840" y="204"/>
                  <a:pt x="8513376" y="34707"/>
                  <a:pt x="8130845" y="18288"/>
                </a:cubicBezTo>
                <a:cubicBezTo>
                  <a:pt x="7748315" y="1869"/>
                  <a:pt x="7864674" y="19659"/>
                  <a:pt x="7644384" y="18288"/>
                </a:cubicBezTo>
                <a:cubicBezTo>
                  <a:pt x="7424094" y="16917"/>
                  <a:pt x="6947001" y="55680"/>
                  <a:pt x="6740957" y="18288"/>
                </a:cubicBezTo>
                <a:cubicBezTo>
                  <a:pt x="6534913" y="-19104"/>
                  <a:pt x="6313809" y="33391"/>
                  <a:pt x="6046013" y="18288"/>
                </a:cubicBezTo>
                <a:cubicBezTo>
                  <a:pt x="5778217" y="3185"/>
                  <a:pt x="5786775" y="1439"/>
                  <a:pt x="5663794" y="18288"/>
                </a:cubicBezTo>
                <a:cubicBezTo>
                  <a:pt x="5540813" y="35137"/>
                  <a:pt x="5204724" y="25434"/>
                  <a:pt x="4968850" y="18288"/>
                </a:cubicBezTo>
                <a:cubicBezTo>
                  <a:pt x="4732976" y="11142"/>
                  <a:pt x="4559928" y="34568"/>
                  <a:pt x="4378147" y="18288"/>
                </a:cubicBezTo>
                <a:cubicBezTo>
                  <a:pt x="4196366" y="2008"/>
                  <a:pt x="3992200" y="35409"/>
                  <a:pt x="3787445" y="18288"/>
                </a:cubicBezTo>
                <a:cubicBezTo>
                  <a:pt x="3582690" y="1167"/>
                  <a:pt x="3488876" y="-7583"/>
                  <a:pt x="3196742" y="18288"/>
                </a:cubicBezTo>
                <a:cubicBezTo>
                  <a:pt x="2904608" y="44159"/>
                  <a:pt x="2729828" y="45906"/>
                  <a:pt x="2606040" y="18288"/>
                </a:cubicBezTo>
                <a:cubicBezTo>
                  <a:pt x="2482252" y="-9330"/>
                  <a:pt x="2000672" y="-5498"/>
                  <a:pt x="1806854" y="18288"/>
                </a:cubicBezTo>
                <a:cubicBezTo>
                  <a:pt x="1613036" y="42074"/>
                  <a:pt x="1310933" y="-4240"/>
                  <a:pt x="1111910" y="18288"/>
                </a:cubicBezTo>
                <a:cubicBezTo>
                  <a:pt x="912887" y="40816"/>
                  <a:pt x="891560" y="1701"/>
                  <a:pt x="729691" y="18288"/>
                </a:cubicBezTo>
                <a:cubicBezTo>
                  <a:pt x="567822" y="34875"/>
                  <a:pt x="203025" y="34462"/>
                  <a:pt x="0" y="18288"/>
                </a:cubicBezTo>
                <a:cubicBezTo>
                  <a:pt x="-82" y="11708"/>
                  <a:pt x="-178" y="8956"/>
                  <a:pt x="0" y="0"/>
                </a:cubicBezTo>
                <a:close/>
              </a:path>
              <a:path w="10424160" h="18288" stroke="0" extrusionOk="0">
                <a:moveTo>
                  <a:pt x="0" y="0"/>
                </a:moveTo>
                <a:cubicBezTo>
                  <a:pt x="119910" y="17195"/>
                  <a:pt x="345032" y="1652"/>
                  <a:pt x="590702" y="0"/>
                </a:cubicBezTo>
                <a:cubicBezTo>
                  <a:pt x="836372" y="-1652"/>
                  <a:pt x="830717" y="-10944"/>
                  <a:pt x="972922" y="0"/>
                </a:cubicBezTo>
                <a:cubicBezTo>
                  <a:pt x="1115127" y="10944"/>
                  <a:pt x="1638708" y="17269"/>
                  <a:pt x="1876349" y="0"/>
                </a:cubicBezTo>
                <a:cubicBezTo>
                  <a:pt x="2113990" y="-17269"/>
                  <a:pt x="2263529" y="27642"/>
                  <a:pt x="2467051" y="0"/>
                </a:cubicBezTo>
                <a:cubicBezTo>
                  <a:pt x="2670573" y="-27642"/>
                  <a:pt x="2867743" y="-1552"/>
                  <a:pt x="3057754" y="0"/>
                </a:cubicBezTo>
                <a:cubicBezTo>
                  <a:pt x="3247765" y="1552"/>
                  <a:pt x="3729099" y="45169"/>
                  <a:pt x="3961181" y="0"/>
                </a:cubicBezTo>
                <a:cubicBezTo>
                  <a:pt x="4193263" y="-45169"/>
                  <a:pt x="4313735" y="4067"/>
                  <a:pt x="4447642" y="0"/>
                </a:cubicBezTo>
                <a:cubicBezTo>
                  <a:pt x="4581549" y="-4067"/>
                  <a:pt x="5123626" y="11867"/>
                  <a:pt x="5351069" y="0"/>
                </a:cubicBezTo>
                <a:cubicBezTo>
                  <a:pt x="5578512" y="-11867"/>
                  <a:pt x="6044105" y="-19983"/>
                  <a:pt x="6254496" y="0"/>
                </a:cubicBezTo>
                <a:cubicBezTo>
                  <a:pt x="6464887" y="19983"/>
                  <a:pt x="6664731" y="4232"/>
                  <a:pt x="6949440" y="0"/>
                </a:cubicBezTo>
                <a:cubicBezTo>
                  <a:pt x="7234149" y="-4232"/>
                  <a:pt x="7497205" y="28731"/>
                  <a:pt x="7852867" y="0"/>
                </a:cubicBezTo>
                <a:cubicBezTo>
                  <a:pt x="8208529" y="-28731"/>
                  <a:pt x="8287556" y="2616"/>
                  <a:pt x="8443570" y="0"/>
                </a:cubicBezTo>
                <a:cubicBezTo>
                  <a:pt x="8599584" y="-2616"/>
                  <a:pt x="8871283" y="-14113"/>
                  <a:pt x="9034272" y="0"/>
                </a:cubicBezTo>
                <a:cubicBezTo>
                  <a:pt x="9197261" y="14113"/>
                  <a:pt x="9604978" y="-35623"/>
                  <a:pt x="9833458" y="0"/>
                </a:cubicBezTo>
                <a:cubicBezTo>
                  <a:pt x="10061938" y="35623"/>
                  <a:pt x="10231944" y="-8194"/>
                  <a:pt x="10424160" y="0"/>
                </a:cubicBezTo>
                <a:cubicBezTo>
                  <a:pt x="10424285" y="4395"/>
                  <a:pt x="10424085" y="9776"/>
                  <a:pt x="10424160" y="18288"/>
                </a:cubicBezTo>
                <a:cubicBezTo>
                  <a:pt x="10058736" y="-5772"/>
                  <a:pt x="9942989" y="-18764"/>
                  <a:pt x="9624974" y="18288"/>
                </a:cubicBezTo>
                <a:cubicBezTo>
                  <a:pt x="9306959" y="55340"/>
                  <a:pt x="9229263" y="24995"/>
                  <a:pt x="8930030" y="18288"/>
                </a:cubicBezTo>
                <a:cubicBezTo>
                  <a:pt x="8630797" y="11581"/>
                  <a:pt x="8647263" y="10931"/>
                  <a:pt x="8547811" y="18288"/>
                </a:cubicBezTo>
                <a:cubicBezTo>
                  <a:pt x="8448359" y="25645"/>
                  <a:pt x="8173221" y="219"/>
                  <a:pt x="8061350" y="18288"/>
                </a:cubicBezTo>
                <a:cubicBezTo>
                  <a:pt x="7949479" y="36357"/>
                  <a:pt x="7437002" y="17516"/>
                  <a:pt x="7157923" y="18288"/>
                </a:cubicBezTo>
                <a:cubicBezTo>
                  <a:pt x="6878844" y="19060"/>
                  <a:pt x="6610241" y="8864"/>
                  <a:pt x="6462979" y="18288"/>
                </a:cubicBezTo>
                <a:cubicBezTo>
                  <a:pt x="6315717" y="27712"/>
                  <a:pt x="6124879" y="4989"/>
                  <a:pt x="5976518" y="18288"/>
                </a:cubicBezTo>
                <a:cubicBezTo>
                  <a:pt x="5828157" y="31587"/>
                  <a:pt x="5566880" y="7112"/>
                  <a:pt x="5281574" y="18288"/>
                </a:cubicBezTo>
                <a:cubicBezTo>
                  <a:pt x="4996268" y="29464"/>
                  <a:pt x="5085614" y="20493"/>
                  <a:pt x="4899355" y="18288"/>
                </a:cubicBezTo>
                <a:cubicBezTo>
                  <a:pt x="4713096" y="16083"/>
                  <a:pt x="4606138" y="34359"/>
                  <a:pt x="4517136" y="18288"/>
                </a:cubicBezTo>
                <a:cubicBezTo>
                  <a:pt x="4428134" y="2217"/>
                  <a:pt x="4125335" y="52414"/>
                  <a:pt x="3822192" y="18288"/>
                </a:cubicBezTo>
                <a:cubicBezTo>
                  <a:pt x="3519049" y="-15838"/>
                  <a:pt x="3453132" y="3859"/>
                  <a:pt x="3335731" y="18288"/>
                </a:cubicBezTo>
                <a:cubicBezTo>
                  <a:pt x="3218330" y="32717"/>
                  <a:pt x="2718749" y="-13936"/>
                  <a:pt x="2536546" y="18288"/>
                </a:cubicBezTo>
                <a:cubicBezTo>
                  <a:pt x="2354343" y="50512"/>
                  <a:pt x="2190669" y="3238"/>
                  <a:pt x="2050085" y="18288"/>
                </a:cubicBezTo>
                <a:cubicBezTo>
                  <a:pt x="1909501" y="33338"/>
                  <a:pt x="1520975" y="3062"/>
                  <a:pt x="1250899" y="18288"/>
                </a:cubicBezTo>
                <a:cubicBezTo>
                  <a:pt x="980823" y="33514"/>
                  <a:pt x="992936" y="28036"/>
                  <a:pt x="868680" y="18288"/>
                </a:cubicBezTo>
                <a:cubicBezTo>
                  <a:pt x="744424" y="8540"/>
                  <a:pt x="230364" y="33365"/>
                  <a:pt x="0" y="18288"/>
                </a:cubicBezTo>
                <a:cubicBezTo>
                  <a:pt x="-504" y="12101"/>
                  <a:pt x="-591" y="7719"/>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5" name="Content Placeholder 2">
            <a:extLst>
              <a:ext uri="{FF2B5EF4-FFF2-40B4-BE49-F238E27FC236}">
                <a16:creationId xmlns:a16="http://schemas.microsoft.com/office/drawing/2014/main" id="{BD71F789-EC3B-7957-E7CA-B880D532C2BB}"/>
              </a:ext>
            </a:extLst>
          </p:cNvPr>
          <p:cNvGraphicFramePr>
            <a:graphicFrameLocks noGrp="1"/>
          </p:cNvGraphicFramePr>
          <p:nvPr>
            <p:ph idx="1"/>
            <p:extLst>
              <p:ext uri="{D42A27DB-BD31-4B8C-83A1-F6EECF244321}">
                <p14:modId xmlns:p14="http://schemas.microsoft.com/office/powerpoint/2010/main" val="1589303650"/>
              </p:ext>
            </p:extLst>
          </p:nvPr>
        </p:nvGraphicFramePr>
        <p:xfrm>
          <a:off x="838200" y="2228087"/>
          <a:ext cx="10515600" cy="394887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6300070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0E5436-21BA-4F73-AFBF-A7EA2D284899}"/>
              </a:ext>
            </a:extLst>
          </p:cNvPr>
          <p:cNvSpPr>
            <a:spLocks noGrp="1"/>
          </p:cNvSpPr>
          <p:nvPr>
            <p:ph type="title"/>
          </p:nvPr>
        </p:nvSpPr>
        <p:spPr>
          <a:xfrm>
            <a:off x="838200" y="0"/>
            <a:ext cx="10515600" cy="1325563"/>
          </a:xfrm>
        </p:spPr>
        <p:txBody>
          <a:bodyPr/>
          <a:lstStyle/>
          <a:p>
            <a:pPr algn="ctr"/>
            <a:r>
              <a:rPr lang="en-US" dirty="0">
                <a:latin typeface="Arial Black" panose="020B0A04020102020204" pitchFamily="34" charset="0"/>
              </a:rPr>
              <a:t> 🔍 </a:t>
            </a:r>
            <a:r>
              <a:rPr lang="en-US" b="1" dirty="0">
                <a:latin typeface="Arial Black" panose="020B0A04020102020204" pitchFamily="34" charset="0"/>
                <a:cs typeface="Times New Roman" panose="02020603050405020304" pitchFamily="18" charset="0"/>
              </a:rPr>
              <a:t>DATA UNDERSTANDING</a:t>
            </a:r>
          </a:p>
        </p:txBody>
      </p:sp>
      <p:graphicFrame>
        <p:nvGraphicFramePr>
          <p:cNvPr id="7" name="Rectangle 1">
            <a:extLst>
              <a:ext uri="{FF2B5EF4-FFF2-40B4-BE49-F238E27FC236}">
                <a16:creationId xmlns:a16="http://schemas.microsoft.com/office/drawing/2014/main" id="{C772F4A7-F36C-9D87-F489-EB7A8E68FB13}"/>
              </a:ext>
            </a:extLst>
          </p:cNvPr>
          <p:cNvGraphicFramePr>
            <a:graphicFrameLocks noGrp="1"/>
          </p:cNvGraphicFramePr>
          <p:nvPr>
            <p:ph idx="1"/>
            <p:extLst>
              <p:ext uri="{D42A27DB-BD31-4B8C-83A1-F6EECF244321}">
                <p14:modId xmlns:p14="http://schemas.microsoft.com/office/powerpoint/2010/main" val="1380072327"/>
              </p:ext>
            </p:extLst>
          </p:nvPr>
        </p:nvGraphicFramePr>
        <p:xfrm>
          <a:off x="311059" y="1473844"/>
          <a:ext cx="11245517" cy="2416046"/>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5" name="Rectangle 1">
            <a:extLst>
              <a:ext uri="{FF2B5EF4-FFF2-40B4-BE49-F238E27FC236}">
                <a16:creationId xmlns:a16="http://schemas.microsoft.com/office/drawing/2014/main" id="{0777638C-E5CC-7345-9C29-CCCB175B8DA6}"/>
              </a:ext>
            </a:extLst>
          </p:cNvPr>
          <p:cNvSpPr txBox="1">
            <a:spLocks noChangeArrowheads="1"/>
          </p:cNvSpPr>
          <p:nvPr/>
        </p:nvSpPr>
        <p:spPr bwMode="auto">
          <a:xfrm>
            <a:off x="311059" y="4370032"/>
            <a:ext cx="11245517" cy="2028248"/>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rtlCol="0" anchor="ctr" anchorCtr="0" compatLnSpc="1">
            <a:prstTxWarp prst="textNoShape">
              <a:avLst/>
            </a:prstTxWarp>
            <a:sp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GB" b="1" dirty="0"/>
              <a:t>Feature Engineering</a:t>
            </a:r>
          </a:p>
          <a:p>
            <a:r>
              <a:rPr lang="en-US" dirty="0"/>
              <a:t>Used label encoding for categorical variables.</a:t>
            </a:r>
          </a:p>
          <a:p>
            <a:r>
              <a:rPr lang="en-US" dirty="0"/>
              <a:t>Created new features for interaction terms and grouping levels.</a:t>
            </a:r>
          </a:p>
          <a:p>
            <a:pPr marL="0" indent="0">
              <a:buNone/>
            </a:pPr>
            <a:endParaRPr lang="en-GB" b="1" dirty="0"/>
          </a:p>
        </p:txBody>
      </p:sp>
    </p:spTree>
    <p:extLst>
      <p:ext uri="{BB962C8B-B14F-4D97-AF65-F5344CB8AC3E}">
        <p14:creationId xmlns:p14="http://schemas.microsoft.com/office/powerpoint/2010/main" val="387097023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1" name="Rectangle 10">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Rectangle 12">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E32043F6-045A-48BE-AA49-6DAACC63F314}"/>
              </a:ext>
            </a:extLst>
          </p:cNvPr>
          <p:cNvSpPr>
            <a:spLocks noGrp="1"/>
          </p:cNvSpPr>
          <p:nvPr>
            <p:ph type="title"/>
          </p:nvPr>
        </p:nvSpPr>
        <p:spPr>
          <a:xfrm>
            <a:off x="1115568" y="548640"/>
            <a:ext cx="10168128" cy="1179576"/>
          </a:xfrm>
        </p:spPr>
        <p:txBody>
          <a:bodyPr>
            <a:normAutofit/>
          </a:bodyPr>
          <a:lstStyle/>
          <a:p>
            <a:r>
              <a:rPr lang="en-US" sz="4000">
                <a:latin typeface="Arial Black" panose="020B0A04020102020204" pitchFamily="34" charset="0"/>
              </a:rPr>
              <a:t>📊 </a:t>
            </a:r>
            <a:r>
              <a:rPr lang="en-GB" sz="4000" b="1">
                <a:latin typeface="Arial Black" panose="020B0604020202020204" pitchFamily="34" charset="0"/>
                <a:cs typeface="Arial Black" panose="020B0604020202020204" pitchFamily="34" charset="0"/>
              </a:rPr>
              <a:t>Exploratory Data Analysis</a:t>
            </a:r>
            <a:endParaRPr lang="en-US" sz="4000" b="1">
              <a:latin typeface="Arial Black" panose="020B0604020202020204" pitchFamily="34" charset="0"/>
              <a:cs typeface="Arial Black" panose="020B0604020202020204" pitchFamily="34" charset="0"/>
            </a:endParaRPr>
          </a:p>
        </p:txBody>
      </p:sp>
      <p:sp>
        <p:nvSpPr>
          <p:cNvPr id="15" name="Rectangle 14">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Rectangle 1">
            <a:extLst>
              <a:ext uri="{FF2B5EF4-FFF2-40B4-BE49-F238E27FC236}">
                <a16:creationId xmlns:a16="http://schemas.microsoft.com/office/drawing/2014/main" id="{3CF341A5-BE4F-435E-9FF9-2F5970122A00}"/>
              </a:ext>
            </a:extLst>
          </p:cNvPr>
          <p:cNvSpPr>
            <a:spLocks noGrp="1" noChangeArrowheads="1"/>
          </p:cNvSpPr>
          <p:nvPr>
            <p:ph idx="1"/>
          </p:nvPr>
        </p:nvSpPr>
        <p:spPr bwMode="auto">
          <a:xfrm>
            <a:off x="1115568" y="2481943"/>
            <a:ext cx="10168128" cy="3695020"/>
          </a:xfrm>
          <a:prstGeom prst="rect">
            <a:avLst/>
          </a:prstGeom>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lIns="91440" tIns="45720" rIns="91440" bIns="45720" numCol="1" anchorCtr="0" compatLnSpc="1">
            <a:prstTxWarp prst="textNoShape">
              <a:avLst/>
            </a:prstTxWarp>
            <a:normAutofit/>
          </a:bodyPr>
          <a:lstStyle/>
          <a:p>
            <a:pPr eaLnBrk="0" fontAlgn="base" hangingPunct="0">
              <a:spcBef>
                <a:spcPct val="0"/>
              </a:spcBef>
              <a:spcAft>
                <a:spcPct val="0"/>
              </a:spcAft>
            </a:pPr>
            <a:r>
              <a:rPr kumimoji="0" lang="en-US" altLang="en-US" sz="2200" b="0" i="0" u="none" strike="noStrike" cap="none" normalizeH="0" baseline="0">
                <a:ln>
                  <a:noFill/>
                </a:ln>
                <a:effectLst/>
              </a:rPr>
              <a:t>Most who received H1N1 also took </a:t>
            </a:r>
            <a:r>
              <a:rPr lang="en-US" altLang="en-US" sz="2200"/>
              <a:t>the seasonal vaccine.</a:t>
            </a:r>
            <a:endParaRPr kumimoji="0" lang="en-US" altLang="en-US" sz="2200" b="0" i="0" u="none" strike="noStrike" cap="none" normalizeH="0" baseline="0">
              <a:ln>
                <a:noFill/>
              </a:ln>
              <a:effectLst/>
            </a:endParaRPr>
          </a:p>
          <a:p>
            <a:pPr eaLnBrk="0" fontAlgn="base" hangingPunct="0">
              <a:spcBef>
                <a:spcPct val="0"/>
              </a:spcBef>
              <a:spcAft>
                <a:spcPct val="0"/>
              </a:spcAft>
            </a:pPr>
            <a:r>
              <a:rPr kumimoji="0" lang="en-US" altLang="en-US" sz="2200" b="0" i="0" u="none" strike="noStrike" cap="none" normalizeH="0" baseline="0">
                <a:ln>
                  <a:noFill/>
                </a:ln>
                <a:effectLst/>
              </a:rPr>
              <a:t>Class imbalance present → noted for </a:t>
            </a:r>
            <a:r>
              <a:rPr lang="en-US" altLang="en-US" sz="2200"/>
              <a:t>modelling.</a:t>
            </a:r>
            <a:endParaRPr kumimoji="0" lang="en-US" altLang="en-US" sz="2200" b="0" i="0" u="none" strike="noStrike" cap="none" normalizeH="0" baseline="0">
              <a:ln>
                <a:noFill/>
              </a:ln>
              <a:effectLst/>
            </a:endParaRPr>
          </a:p>
          <a:p>
            <a:r>
              <a:rPr lang="en-GB" sz="2200"/>
              <a:t>Distributions of H1N1 Concern and Knowledge among respondents.</a:t>
            </a:r>
          </a:p>
          <a:p>
            <a:r>
              <a:rPr lang="en-GB" sz="2200"/>
              <a:t>Behavioural patterns related to vaccine uptake (e.g. hand washing).</a:t>
            </a:r>
          </a:p>
          <a:p>
            <a:r>
              <a:rPr lang="en-GB" sz="2200"/>
              <a:t>Influence of doctor recommendations on vaccine uptake. Demographic influences: age group, education, race, sex, income, marital status, and employment status on vaccine uptake.</a:t>
            </a:r>
          </a:p>
          <a:p>
            <a:r>
              <a:rPr lang="en-GB" sz="2200"/>
              <a:t>Opinions on vaccine effectiveness, risk, and side effects.</a:t>
            </a:r>
          </a:p>
          <a:p>
            <a:pPr lvl="1" eaLnBrk="0" fontAlgn="base" hangingPunct="0">
              <a:spcBef>
                <a:spcPct val="0"/>
              </a:spcBef>
              <a:spcAft>
                <a:spcPct val="0"/>
              </a:spcAft>
            </a:pPr>
            <a:endParaRPr kumimoji="0" lang="en-US" altLang="en-US" sz="2200" b="0" i="0" u="none" strike="noStrike" cap="none" normalizeH="0" baseline="0">
              <a:ln>
                <a:noFill/>
              </a:ln>
              <a:effectLst/>
              <a:latin typeface="Arial" panose="020B0604020202020204" pitchFamily="34" charset="0"/>
            </a:endParaRPr>
          </a:p>
        </p:txBody>
      </p:sp>
    </p:spTree>
    <p:extLst>
      <p:ext uri="{BB962C8B-B14F-4D97-AF65-F5344CB8AC3E}">
        <p14:creationId xmlns:p14="http://schemas.microsoft.com/office/powerpoint/2010/main" val="37785554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28EADA6A-ADA8-4E92-91E8-7DDD76906CDF}"/>
              </a:ext>
            </a:extLst>
          </p:cNvPr>
          <p:cNvSpPr>
            <a:spLocks noGrp="1"/>
          </p:cNvSpPr>
          <p:nvPr>
            <p:ph type="title"/>
          </p:nvPr>
        </p:nvSpPr>
        <p:spPr>
          <a:xfrm>
            <a:off x="1115568" y="548640"/>
            <a:ext cx="10168128" cy="1179576"/>
          </a:xfrm>
        </p:spPr>
        <p:txBody>
          <a:bodyPr>
            <a:normAutofit/>
          </a:bodyPr>
          <a:lstStyle/>
          <a:p>
            <a:r>
              <a:rPr lang="en-US" sz="4000" b="1">
                <a:latin typeface="Arial Black" panose="020B0A04020102020204" pitchFamily="34" charset="0"/>
              </a:rPr>
              <a:t>🧠 MODELLING &amp; EVALUATION</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 name="Content Placeholder 2">
            <a:extLst>
              <a:ext uri="{FF2B5EF4-FFF2-40B4-BE49-F238E27FC236}">
                <a16:creationId xmlns:a16="http://schemas.microsoft.com/office/drawing/2014/main" id="{A7FDCD12-4CF3-4EE6-97BF-39F83A4C52E8}"/>
              </a:ext>
            </a:extLst>
          </p:cNvPr>
          <p:cNvSpPr>
            <a:spLocks noGrp="1"/>
          </p:cNvSpPr>
          <p:nvPr>
            <p:ph idx="1"/>
          </p:nvPr>
        </p:nvSpPr>
        <p:spPr>
          <a:xfrm>
            <a:off x="1115568" y="2481943"/>
            <a:ext cx="10168128" cy="3695020"/>
          </a:xfrm>
        </p:spPr>
        <p:txBody>
          <a:bodyPr>
            <a:normAutofit/>
          </a:bodyPr>
          <a:lstStyle/>
          <a:p>
            <a:endParaRPr lang="en-US" sz="2200" dirty="0"/>
          </a:p>
          <a:p>
            <a:r>
              <a:rPr lang="en-US" sz="2200" b="1" dirty="0"/>
              <a:t>Tested Models: </a:t>
            </a:r>
            <a:r>
              <a:rPr lang="en-US" sz="2200" dirty="0"/>
              <a:t>Logistic Regression, Decision Tree, Random Forest and Gradient Boost.</a:t>
            </a:r>
          </a:p>
          <a:p>
            <a:r>
              <a:rPr lang="en-US" sz="2200" b="1" dirty="0"/>
              <a:t>Evaluation Metrics: </a:t>
            </a:r>
            <a:r>
              <a:rPr lang="en-US" sz="2200" dirty="0"/>
              <a:t>Used recall and F1-score as main metrics. Also took note of accuracy, precision and AUC.</a:t>
            </a:r>
          </a:p>
          <a:p>
            <a:r>
              <a:rPr lang="en-US" sz="2200" b="1" dirty="0"/>
              <a:t>Selected Model: </a:t>
            </a:r>
            <a:r>
              <a:rPr lang="en-US" sz="2200" dirty="0"/>
              <a:t>The </a:t>
            </a:r>
            <a:r>
              <a:rPr lang="en-GB" sz="2200" dirty="0"/>
              <a:t>tuned Random Forest was selected due to its strong performance in handling high-dimensional data, its ability to reduce overfitting, and its robust predictive accuracy, making it well-suited for this classification task.</a:t>
            </a:r>
            <a:endParaRPr lang="en-US" sz="2200" dirty="0"/>
          </a:p>
        </p:txBody>
      </p:sp>
    </p:spTree>
    <p:extLst>
      <p:ext uri="{BB962C8B-B14F-4D97-AF65-F5344CB8AC3E}">
        <p14:creationId xmlns:p14="http://schemas.microsoft.com/office/powerpoint/2010/main" val="39655595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AF1966E-FD40-4A4A-B61B-C4DF7FA05F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47BFA19-D45E-416B-A404-7AF2F3F270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58209" y="0"/>
            <a:ext cx="11167447" cy="2018806"/>
          </a:xfrm>
          <a:prstGeom prst="rect">
            <a:avLst/>
          </a:prstGeom>
          <a:ln w="9525">
            <a:solidFill>
              <a:srgbClr val="E1E1E1"/>
            </a:solidFill>
          </a:ln>
          <a:effectLst>
            <a:outerShdw blurRad="50800" dist="38100" dir="2700000" algn="t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2" name="Rectangle 11">
            <a:extLst>
              <a:ext uri="{FF2B5EF4-FFF2-40B4-BE49-F238E27FC236}">
                <a16:creationId xmlns:a16="http://schemas.microsoft.com/office/drawing/2014/main" id="{8E0105E7-23DB-4CF2-8258-FF47C7620F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6928" y="0"/>
            <a:ext cx="11155680" cy="2011680"/>
          </a:xfrm>
          <a:prstGeom prst="rect">
            <a:avLst/>
          </a:pr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5E11496-AFC6-4DA6-A403-8B447CCAF286}"/>
              </a:ext>
            </a:extLst>
          </p:cNvPr>
          <p:cNvSpPr>
            <a:spLocks noGrp="1"/>
          </p:cNvSpPr>
          <p:nvPr>
            <p:ph type="title"/>
          </p:nvPr>
        </p:nvSpPr>
        <p:spPr>
          <a:xfrm>
            <a:off x="1115568" y="548640"/>
            <a:ext cx="10168128" cy="1179576"/>
          </a:xfrm>
        </p:spPr>
        <p:txBody>
          <a:bodyPr>
            <a:normAutofit/>
          </a:bodyPr>
          <a:lstStyle/>
          <a:p>
            <a:r>
              <a:rPr lang="en-US" sz="4000" b="1">
                <a:latin typeface="Arial Black" panose="020B0A04020102020204" pitchFamily="34" charset="0"/>
              </a:rPr>
              <a:t>🚀 MODEL DEPLOYMENT</a:t>
            </a:r>
          </a:p>
        </p:txBody>
      </p:sp>
      <p:sp>
        <p:nvSpPr>
          <p:cNvPr id="14" name="Rectangle 13">
            <a:extLst>
              <a:ext uri="{FF2B5EF4-FFF2-40B4-BE49-F238E27FC236}">
                <a16:creationId xmlns:a16="http://schemas.microsoft.com/office/drawing/2014/main" id="{074B4F7D-14B2-478B-8BF5-01E4E0C5D26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98834" y="758952"/>
            <a:ext cx="128016" cy="704088"/>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4" name="Rectangle 3">
            <a:extLst>
              <a:ext uri="{FF2B5EF4-FFF2-40B4-BE49-F238E27FC236}">
                <a16:creationId xmlns:a16="http://schemas.microsoft.com/office/drawing/2014/main" id="{5B0BD175-A69D-974F-BFC5-A208DA1FE7EC}"/>
              </a:ext>
            </a:extLst>
          </p:cNvPr>
          <p:cNvSpPr/>
          <p:nvPr/>
        </p:nvSpPr>
        <p:spPr>
          <a:xfrm>
            <a:off x="5977217" y="3244334"/>
            <a:ext cx="237566" cy="369332"/>
          </a:xfrm>
          <a:prstGeom prst="rect">
            <a:avLst/>
          </a:prstGeom>
        </p:spPr>
        <p:txBody>
          <a:bodyPr wrap="none">
            <a:spAutoFit/>
          </a:bodyPr>
          <a:lstStyle/>
          <a:p>
            <a:r>
              <a:rPr lang="en-GB" dirty="0"/>
              <a:t> </a:t>
            </a:r>
          </a:p>
        </p:txBody>
      </p:sp>
      <p:sp>
        <p:nvSpPr>
          <p:cNvPr id="5" name="Rectangle 4">
            <a:extLst>
              <a:ext uri="{FF2B5EF4-FFF2-40B4-BE49-F238E27FC236}">
                <a16:creationId xmlns:a16="http://schemas.microsoft.com/office/drawing/2014/main" id="{2FCD9B0D-9D6F-974B-9DE2-2A01310E1535}"/>
              </a:ext>
            </a:extLst>
          </p:cNvPr>
          <p:cNvSpPr/>
          <p:nvPr/>
        </p:nvSpPr>
        <p:spPr>
          <a:xfrm>
            <a:off x="5977217" y="3244334"/>
            <a:ext cx="237566" cy="369332"/>
          </a:xfrm>
          <a:prstGeom prst="rect">
            <a:avLst/>
          </a:prstGeom>
        </p:spPr>
        <p:txBody>
          <a:bodyPr wrap="none">
            <a:spAutoFit/>
          </a:bodyPr>
          <a:lstStyle/>
          <a:p>
            <a:r>
              <a:rPr lang="en-GB" dirty="0"/>
              <a:t> </a:t>
            </a:r>
          </a:p>
        </p:txBody>
      </p:sp>
      <p:pic>
        <p:nvPicPr>
          <p:cNvPr id="1026" name="Picture 2">
            <a:extLst>
              <a:ext uri="{FF2B5EF4-FFF2-40B4-BE49-F238E27FC236}">
                <a16:creationId xmlns:a16="http://schemas.microsoft.com/office/drawing/2014/main" id="{839AF122-A970-C84F-BBA7-4D7490016EC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12520" y="1573884"/>
            <a:ext cx="8569569" cy="4818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540599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E11496-AFC6-4DA6-A403-8B447CCAF286}"/>
              </a:ext>
            </a:extLst>
          </p:cNvPr>
          <p:cNvSpPr>
            <a:spLocks noGrp="1"/>
          </p:cNvSpPr>
          <p:nvPr>
            <p:ph type="title"/>
          </p:nvPr>
        </p:nvSpPr>
        <p:spPr>
          <a:xfrm>
            <a:off x="686834" y="1153572"/>
            <a:ext cx="3200400" cy="4461163"/>
          </a:xfrm>
        </p:spPr>
        <p:txBody>
          <a:bodyPr>
            <a:normAutofit/>
          </a:bodyPr>
          <a:lstStyle/>
          <a:p>
            <a:r>
              <a:rPr lang="en-US" sz="3100" b="1">
                <a:solidFill>
                  <a:srgbClr val="FFFFFF"/>
                </a:solidFill>
                <a:latin typeface="Arial Black" panose="020B0A04020102020204" pitchFamily="34" charset="0"/>
              </a:rPr>
              <a:t>🚀 CONCLUSION</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85323ADD-5EB6-4B0D-BF74-692310FCD33C}"/>
              </a:ext>
            </a:extLst>
          </p:cNvPr>
          <p:cNvSpPr>
            <a:spLocks noGrp="1"/>
          </p:cNvSpPr>
          <p:nvPr>
            <p:ph idx="1"/>
          </p:nvPr>
        </p:nvSpPr>
        <p:spPr>
          <a:xfrm>
            <a:off x="4447308" y="591344"/>
            <a:ext cx="6906491" cy="5585619"/>
          </a:xfrm>
        </p:spPr>
        <p:txBody>
          <a:bodyPr anchor="ctr">
            <a:normAutofit/>
          </a:bodyPr>
          <a:lstStyle/>
          <a:p>
            <a:endParaRPr lang="en-US" dirty="0"/>
          </a:p>
          <a:p>
            <a:r>
              <a:rPr lang="en-GB" dirty="0"/>
              <a:t>Key </a:t>
            </a:r>
            <a:r>
              <a:rPr lang="en-GB" b="1" dirty="0"/>
              <a:t>drivers of vaccination behaviour were identified</a:t>
            </a:r>
            <a:r>
              <a:rPr lang="en-GB" dirty="0"/>
              <a:t>, providing valuable insights for public health strategies.</a:t>
            </a:r>
          </a:p>
          <a:p>
            <a:r>
              <a:rPr lang="en-GB" dirty="0"/>
              <a:t>A </a:t>
            </a:r>
            <a:r>
              <a:rPr lang="en-GB" b="1" dirty="0"/>
              <a:t>Tuned Random Forest model </a:t>
            </a:r>
            <a:r>
              <a:rPr lang="en-GB" dirty="0"/>
              <a:t>demonstrated strong performance, </a:t>
            </a:r>
            <a:r>
              <a:rPr lang="en-GB"/>
              <a:t>proving to </a:t>
            </a:r>
            <a:r>
              <a:rPr lang="en-GB" dirty="0"/>
              <a:t>be a robust predictor of vaccine uptake.</a:t>
            </a:r>
          </a:p>
          <a:p>
            <a:r>
              <a:rPr lang="en-GB" dirty="0"/>
              <a:t>An easy-to-use </a:t>
            </a:r>
            <a:r>
              <a:rPr lang="en-GB" b="1" dirty="0"/>
              <a:t>User-Interface</a:t>
            </a:r>
            <a:r>
              <a:rPr lang="en-GB" dirty="0"/>
              <a:t> was deployed, allowing stakeholders to easily make use of data for decision making as well as reach out to at risk individuals.</a:t>
            </a:r>
          </a:p>
          <a:p>
            <a:pPr marL="0" indent="0">
              <a:buNone/>
            </a:pPr>
            <a:endParaRPr lang="en-US" dirty="0"/>
          </a:p>
        </p:txBody>
      </p:sp>
    </p:spTree>
    <p:extLst>
      <p:ext uri="{BB962C8B-B14F-4D97-AF65-F5344CB8AC3E}">
        <p14:creationId xmlns:p14="http://schemas.microsoft.com/office/powerpoint/2010/main" val="167676138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11496-AFC6-4DA6-A403-8B447CCAF286}"/>
              </a:ext>
            </a:extLst>
          </p:cNvPr>
          <p:cNvSpPr>
            <a:spLocks noGrp="1"/>
          </p:cNvSpPr>
          <p:nvPr>
            <p:ph type="title"/>
          </p:nvPr>
        </p:nvSpPr>
        <p:spPr>
          <a:xfrm>
            <a:off x="5868557" y="1138036"/>
            <a:ext cx="5444382" cy="1402470"/>
          </a:xfrm>
        </p:spPr>
        <p:txBody>
          <a:bodyPr anchor="t">
            <a:normAutofit/>
          </a:bodyPr>
          <a:lstStyle/>
          <a:p>
            <a:r>
              <a:rPr lang="en-US" sz="3200" b="1">
                <a:latin typeface="Arial Black" panose="020B0A04020102020204" pitchFamily="34" charset="0"/>
              </a:rPr>
              <a:t>🚀 RECOMMENDATIONS</a:t>
            </a:r>
          </a:p>
        </p:txBody>
      </p:sp>
      <p:pic>
        <p:nvPicPr>
          <p:cNvPr id="5" name="Picture 4" descr="Colourful carved figures of humans">
            <a:extLst>
              <a:ext uri="{FF2B5EF4-FFF2-40B4-BE49-F238E27FC236}">
                <a16:creationId xmlns:a16="http://schemas.microsoft.com/office/drawing/2014/main" id="{F21F89D0-D21A-2E98-B447-44A2622AD6A3}"/>
              </a:ext>
            </a:extLst>
          </p:cNvPr>
          <p:cNvPicPr>
            <a:picLocks noChangeAspect="1"/>
          </p:cNvPicPr>
          <p:nvPr/>
        </p:nvPicPr>
        <p:blipFill>
          <a:blip r:embed="rId2"/>
          <a:srcRect l="23358" r="23125" b="-1"/>
          <a:stretch>
            <a:fillRect/>
          </a:stretch>
        </p:blipFill>
        <p:spPr>
          <a:xfrm>
            <a:off x="-1" y="10"/>
            <a:ext cx="5151179" cy="6857990"/>
          </a:xfrm>
          <a:prstGeom prst="rect">
            <a:avLst/>
          </a:prstGeom>
        </p:spPr>
      </p:pic>
      <p:cxnSp>
        <p:nvCxnSpPr>
          <p:cNvPr id="9" name="Straight Connector 8">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971697"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85323ADD-5EB6-4B0D-BF74-692310FCD33C}"/>
              </a:ext>
            </a:extLst>
          </p:cNvPr>
          <p:cNvSpPr>
            <a:spLocks noGrp="1"/>
          </p:cNvSpPr>
          <p:nvPr>
            <p:ph idx="1"/>
          </p:nvPr>
        </p:nvSpPr>
        <p:spPr>
          <a:xfrm>
            <a:off x="5868557" y="2551176"/>
            <a:ext cx="5444382" cy="3591207"/>
          </a:xfrm>
        </p:spPr>
        <p:txBody>
          <a:bodyPr>
            <a:normAutofit/>
          </a:bodyPr>
          <a:lstStyle/>
          <a:p>
            <a:endParaRPr lang="en-US" sz="1600"/>
          </a:p>
          <a:p>
            <a:r>
              <a:rPr lang="en-GB" sz="1600" b="1"/>
              <a:t>Targeted Campaigns:</a:t>
            </a:r>
            <a:r>
              <a:rPr lang="en-GB" sz="1600"/>
              <a:t> Use insights from significant features to develop targeted public health messages for hesitant groups.</a:t>
            </a:r>
          </a:p>
          <a:p>
            <a:r>
              <a:rPr lang="en-GB" sz="1600" b="1"/>
              <a:t>Improved Access:</a:t>
            </a:r>
            <a:r>
              <a:rPr lang="en-GB" sz="1600"/>
              <a:t> Enhance vaccine accessibility in areas or for demographics identified as having lower uptake.</a:t>
            </a:r>
          </a:p>
          <a:p>
            <a:r>
              <a:rPr lang="en-GB" sz="1600" b="1"/>
              <a:t>Educational Initiatives:</a:t>
            </a:r>
            <a:r>
              <a:rPr lang="en-GB" sz="1600"/>
              <a:t> Counter misinformation and build trust in vaccines through tailored educational programmes.</a:t>
            </a:r>
          </a:p>
          <a:p>
            <a:r>
              <a:rPr lang="en-GB" sz="1600" b="1"/>
              <a:t>Policy Implications:</a:t>
            </a:r>
            <a:r>
              <a:rPr lang="en-GB" sz="1600"/>
              <a:t> Inform policy decisions for future vaccination efforts, especially during pandemics.</a:t>
            </a:r>
          </a:p>
          <a:p>
            <a:r>
              <a:rPr lang="en-GB" sz="1600" b="1"/>
              <a:t>Continuous Monitoring:</a:t>
            </a:r>
            <a:r>
              <a:rPr lang="en-GB" sz="1600"/>
              <a:t> Implement a system for continuous monitoring and retraining of the models with new data.</a:t>
            </a:r>
          </a:p>
          <a:p>
            <a:pPr marL="0" indent="0">
              <a:buNone/>
            </a:pPr>
            <a:endParaRPr lang="en-US" sz="1600"/>
          </a:p>
        </p:txBody>
      </p:sp>
    </p:spTree>
    <p:extLst>
      <p:ext uri="{BB962C8B-B14F-4D97-AF65-F5344CB8AC3E}">
        <p14:creationId xmlns:p14="http://schemas.microsoft.com/office/powerpoint/2010/main" val="20990539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278ADA9-6383-4BDD-80D2-8899A40268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484B7147-B0F6-40ED-B5A2-FF72BC8198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 name="Rectangle 12">
            <a:extLst>
              <a:ext uri="{FF2B5EF4-FFF2-40B4-BE49-F238E27FC236}">
                <a16:creationId xmlns:a16="http://schemas.microsoft.com/office/drawing/2014/main" id="{B36D2DE0-0628-4A9A-A59D-7BA8B5EB30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Oval 14">
            <a:extLst>
              <a:ext uri="{FF2B5EF4-FFF2-40B4-BE49-F238E27FC236}">
                <a16:creationId xmlns:a16="http://schemas.microsoft.com/office/drawing/2014/main" id="{48E405C9-94BE-41DA-928C-DEC9A8550E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815929" y="148929"/>
            <a:ext cx="6560142" cy="6560142"/>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1"/>
              </a:solidFill>
            </a:endParaRPr>
          </a:p>
        </p:txBody>
      </p:sp>
      <p:sp>
        <p:nvSpPr>
          <p:cNvPr id="4" name="Title 3">
            <a:extLst>
              <a:ext uri="{FF2B5EF4-FFF2-40B4-BE49-F238E27FC236}">
                <a16:creationId xmlns:a16="http://schemas.microsoft.com/office/drawing/2014/main" id="{48D59770-A5A4-4884-AE6F-2903245A69F5}"/>
              </a:ext>
            </a:extLst>
          </p:cNvPr>
          <p:cNvSpPr>
            <a:spLocks noGrp="1"/>
          </p:cNvSpPr>
          <p:nvPr>
            <p:ph type="title"/>
          </p:nvPr>
        </p:nvSpPr>
        <p:spPr>
          <a:xfrm>
            <a:off x="3315031" y="1380754"/>
            <a:ext cx="5561938" cy="2513516"/>
          </a:xfrm>
        </p:spPr>
        <p:txBody>
          <a:bodyPr vert="horz" lIns="91440" tIns="45720" rIns="91440" bIns="45720" rtlCol="0" anchor="b">
            <a:normAutofit/>
          </a:bodyPr>
          <a:lstStyle/>
          <a:p>
            <a:pPr algn="ctr"/>
            <a:r>
              <a:rPr lang="en-US" sz="3300" b="1" kern="1200">
                <a:solidFill>
                  <a:schemeClr val="tx1"/>
                </a:solidFill>
                <a:latin typeface="+mj-lt"/>
                <a:ea typeface="+mj-ea"/>
                <a:cs typeface="+mj-cs"/>
              </a:rPr>
              <a:t>THANK YOU</a:t>
            </a:r>
            <a:br>
              <a:rPr lang="en-US" sz="3300" b="1" kern="1200">
                <a:solidFill>
                  <a:schemeClr val="tx1"/>
                </a:solidFill>
                <a:latin typeface="+mj-lt"/>
                <a:ea typeface="+mj-ea"/>
                <a:cs typeface="+mj-cs"/>
              </a:rPr>
            </a:br>
            <a:br>
              <a:rPr lang="en-US" sz="3300" b="1" kern="1200">
                <a:solidFill>
                  <a:schemeClr val="tx1"/>
                </a:solidFill>
                <a:latin typeface="+mj-lt"/>
                <a:ea typeface="+mj-ea"/>
                <a:cs typeface="+mj-cs"/>
              </a:rPr>
            </a:br>
            <a:r>
              <a:rPr lang="en-US" sz="3300" b="1" kern="1200">
                <a:solidFill>
                  <a:schemeClr val="tx1"/>
                </a:solidFill>
                <a:latin typeface="+mj-lt"/>
                <a:ea typeface="+mj-ea"/>
                <a:cs typeface="+mj-cs"/>
              </a:rPr>
              <a:t>ANY</a:t>
            </a:r>
            <a:br>
              <a:rPr lang="en-US" sz="3300" b="1" kern="1200">
                <a:solidFill>
                  <a:schemeClr val="tx1"/>
                </a:solidFill>
                <a:latin typeface="+mj-lt"/>
                <a:ea typeface="+mj-ea"/>
                <a:cs typeface="+mj-cs"/>
              </a:rPr>
            </a:br>
            <a:br>
              <a:rPr lang="en-US" sz="3300" b="1" kern="1200">
                <a:solidFill>
                  <a:schemeClr val="tx1"/>
                </a:solidFill>
                <a:latin typeface="+mj-lt"/>
                <a:ea typeface="+mj-ea"/>
                <a:cs typeface="+mj-cs"/>
              </a:rPr>
            </a:br>
            <a:r>
              <a:rPr lang="en-US" sz="3300" b="1" kern="1200">
                <a:solidFill>
                  <a:schemeClr val="tx1"/>
                </a:solidFill>
                <a:latin typeface="+mj-lt"/>
                <a:ea typeface="+mj-ea"/>
                <a:cs typeface="+mj-cs"/>
              </a:rPr>
              <a:t> QUESTIONS ?</a:t>
            </a:r>
            <a:endParaRPr lang="en-US" sz="3300" kern="1200">
              <a:solidFill>
                <a:schemeClr val="tx1"/>
              </a:solidFill>
              <a:latin typeface="+mj-lt"/>
              <a:ea typeface="+mj-ea"/>
              <a:cs typeface="+mj-cs"/>
            </a:endParaRPr>
          </a:p>
        </p:txBody>
      </p:sp>
      <p:sp>
        <p:nvSpPr>
          <p:cNvPr id="17" name="Arc 16">
            <a:extLst>
              <a:ext uri="{FF2B5EF4-FFF2-40B4-BE49-F238E27FC236}">
                <a16:creationId xmlns:a16="http://schemas.microsoft.com/office/drawing/2014/main" id="{D2091A72-D5BB-42AC-8FD3-F7747D90861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9222429" flipV="1">
            <a:off x="2494119" y="6170"/>
            <a:ext cx="6816262" cy="6816262"/>
          </a:xfrm>
          <a:prstGeom prst="arc">
            <a:avLst>
              <a:gd name="adj1" fmla="val 16200000"/>
              <a:gd name="adj2" fmla="val 20093138"/>
            </a:avLst>
          </a:prstGeom>
          <a:ln w="127000" cap="rnd">
            <a:solidFill>
              <a:schemeClr val="accent4">
                <a:alpha val="95000"/>
              </a:schemeClr>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19" name="Oval 18">
            <a:extLst>
              <a:ext uri="{FF2B5EF4-FFF2-40B4-BE49-F238E27FC236}">
                <a16:creationId xmlns:a16="http://schemas.microsoft.com/office/drawing/2014/main" id="{6ED12BFC-A737-46AF-8411-481112D54B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200995" y="5310973"/>
            <a:ext cx="705948" cy="686798"/>
          </a:xfrm>
          <a:prstGeom prst="ellipse">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8897077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514</TotalTime>
  <Words>742</Words>
  <Application>Microsoft Macintosh PowerPoint</Application>
  <PresentationFormat>Widescreen</PresentationFormat>
  <Paragraphs>55</Paragraphs>
  <Slides>12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Arial Black</vt:lpstr>
      <vt:lpstr>Calibri</vt:lpstr>
      <vt:lpstr>Calibri Light</vt:lpstr>
      <vt:lpstr>Office Theme</vt:lpstr>
      <vt:lpstr>PREDICTING VACCINE UPTAKE FOR TARGETED PUBLIC HEALTH INTERVENTIONS </vt:lpstr>
      <vt:lpstr> 📌PROJECT OVERVIEW &amp; BACKGROUND</vt:lpstr>
      <vt:lpstr>💼 BUSINESS UNDERSTANDING</vt:lpstr>
      <vt:lpstr>❓PROBLEM STATEMENT</vt:lpstr>
      <vt:lpstr>🎯 OBJECTIVES</vt:lpstr>
      <vt:lpstr> 🔍 DATA UNDERSTANDING</vt:lpstr>
      <vt:lpstr>📊 Exploratory Data Analysis</vt:lpstr>
      <vt:lpstr>🧠 MODELLING &amp; EVALUATION</vt:lpstr>
      <vt:lpstr>🚀 MODEL DEPLOYMENT</vt:lpstr>
      <vt:lpstr>🚀 CONCLUSION</vt:lpstr>
      <vt:lpstr>🚀 RECOMMENDATIONS</vt:lpstr>
      <vt:lpstr>THANK YOU  ANY   QUESTIONS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PREDICTING VACCINE UPTAKE FOR TARGETED PUBLIC HEALTH INTERVENTIONS </dc:title>
  <dc:creator>George Nyang'aya</dc:creator>
  <cp:lastModifiedBy>George Nyang'aya</cp:lastModifiedBy>
  <cp:revision>5</cp:revision>
  <dcterms:created xsi:type="dcterms:W3CDTF">2025-08-13T00:48:31Z</dcterms:created>
  <dcterms:modified xsi:type="dcterms:W3CDTF">2025-08-13T09:22:31Z</dcterms:modified>
</cp:coreProperties>
</file>